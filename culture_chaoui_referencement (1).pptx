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8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Shape 1"/>
          <p:cNvSpPr/>
          <p:nvPr/>
        </p:nvSpPr>
        <p:spPr>
          <a:xfrm>
            <a:off x="548640" y="914400"/>
            <a:ext cx="64008" cy="2560320"/>
          </a:xfrm>
          <a:prstGeom prst="rect">
            <a:avLst/>
          </a:prstGeom>
          <a:solidFill>
            <a:srgbClr val="C17B3A"/>
          </a:solidFill>
          <a:ln/>
        </p:spPr>
      </p:sp>
      <p:sp>
        <p:nvSpPr>
          <p:cNvPr id="4" name="Text 2"/>
          <p:cNvSpPr/>
          <p:nvPr/>
        </p:nvSpPr>
        <p:spPr>
          <a:xfrm>
            <a:off x="914400" y="731520"/>
            <a:ext cx="5943600" cy="731520"/>
          </a:xfrm>
          <a:prstGeom prst="rect">
            <a:avLst/>
          </a:prstGeom>
          <a:noFill/>
          <a:ln/>
        </p:spPr>
        <p:txBody>
          <a:bodyPr wrap="square" lIns="0" tIns="0" rIns="0" bIns="0" rtlCol="0" anchor="ctr"/>
          <a:lstStyle/>
          <a:p>
            <a:pPr indent="0" marL="0">
              <a:buNone/>
            </a:pPr>
            <a:r>
              <a:rPr lang="en-US" sz="1800" spc="500" kern="0" dirty="0">
                <a:solidFill>
                  <a:srgbClr val="D4956A"/>
                </a:solidFill>
                <a:latin typeface="Calibri" pitchFamily="34" charset="0"/>
                <a:ea typeface="Calibri" pitchFamily="34" charset="-122"/>
                <a:cs typeface="Calibri" pitchFamily="34" charset="-120"/>
              </a:rPr>
              <a:t>CULTURE CHAOUI</a:t>
            </a:r>
            <a:endParaRPr lang="en-US" sz="1800" dirty="0"/>
          </a:p>
        </p:txBody>
      </p:sp>
      <p:sp>
        <p:nvSpPr>
          <p:cNvPr id="5" name="Text 3"/>
          <p:cNvSpPr/>
          <p:nvPr/>
        </p:nvSpPr>
        <p:spPr>
          <a:xfrm>
            <a:off x="914400" y="1371600"/>
            <a:ext cx="5943600" cy="201168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Georgia" pitchFamily="34" charset="0"/>
                <a:ea typeface="Georgia" pitchFamily="34" charset="-122"/>
                <a:cs typeface="Georgia" pitchFamily="34" charset="-120"/>
              </a:rPr>
              <a:t>Au-delà de l'illusion</a:t>
            </a:r>
            <a:endParaRPr lang="en-US" sz="3400" dirty="0"/>
          </a:p>
          <a:p>
            <a:pPr indent="0" marL="0">
              <a:lnSpc>
                <a:spcPct val="115000"/>
              </a:lnSpc>
              <a:buNone/>
            </a:pPr>
            <a:r>
              <a:rPr lang="en-US" sz="3400" b="1" dirty="0">
                <a:solidFill>
                  <a:srgbClr val="FFFFFF"/>
                </a:solidFill>
                <a:latin typeface="Georgia" pitchFamily="34" charset="0"/>
                <a:ea typeface="Georgia" pitchFamily="34" charset="-122"/>
                <a:cs typeface="Georgia" pitchFamily="34" charset="-120"/>
              </a:rPr>
              <a:t>numérique, vers un</a:t>
            </a:r>
            <a:endParaRPr lang="en-US" sz="3400" dirty="0"/>
          </a:p>
          <a:p>
            <a:pPr indent="0" marL="0">
              <a:lnSpc>
                <a:spcPct val="115000"/>
              </a:lnSpc>
              <a:buNone/>
            </a:pPr>
            <a:r>
              <a:rPr lang="en-US" sz="3400" b="1" dirty="0">
                <a:solidFill>
                  <a:srgbClr val="FFFFFF"/>
                </a:solidFill>
                <a:latin typeface="Georgia" pitchFamily="34" charset="0"/>
                <a:ea typeface="Georgia" pitchFamily="34" charset="-122"/>
                <a:cs typeface="Georgia" pitchFamily="34" charset="-120"/>
              </a:rPr>
              <a:t>vrai référencement</a:t>
            </a:r>
            <a:endParaRPr lang="en-US" sz="3400" dirty="0"/>
          </a:p>
        </p:txBody>
      </p:sp>
      <p:sp>
        <p:nvSpPr>
          <p:cNvPr id="6" name="Text 4"/>
          <p:cNvSpPr/>
          <p:nvPr/>
        </p:nvSpPr>
        <p:spPr>
          <a:xfrm>
            <a:off x="914400" y="3474720"/>
            <a:ext cx="5943600" cy="731520"/>
          </a:xfrm>
          <a:prstGeom prst="rect">
            <a:avLst/>
          </a:prstGeom>
          <a:noFill/>
          <a:ln/>
        </p:spPr>
        <p:txBody>
          <a:bodyPr wrap="square" lIns="0" tIns="0" rIns="0" bIns="0" rtlCol="0" anchor="ctr"/>
          <a:lstStyle/>
          <a:p>
            <a:pPr indent="0" marL="0">
              <a:lnSpc>
                <a:spcPct val="140000"/>
              </a:lnSpc>
              <a:buNone/>
            </a:pPr>
            <a:r>
              <a:rPr lang="en-US" sz="1300" dirty="0">
                <a:solidFill>
                  <a:srgbClr val="D4956A"/>
                </a:solidFill>
                <a:latin typeface="Calibri" pitchFamily="34" charset="0"/>
                <a:ea typeface="Calibri" pitchFamily="34" charset="-122"/>
                <a:cs typeface="Calibri" pitchFamily="34" charset="-120"/>
              </a:rPr>
              <a:t>Comment inscrire le patrimoine chaoui dans les sources</a:t>
            </a:r>
            <a:endParaRPr lang="en-US" sz="1300" dirty="0"/>
          </a:p>
          <a:p>
            <a:pPr indent="0" marL="0">
              <a:lnSpc>
                <a:spcPct val="140000"/>
              </a:lnSpc>
              <a:buNone/>
            </a:pPr>
            <a:r>
              <a:rPr lang="en-US" sz="1300" dirty="0">
                <a:solidFill>
                  <a:srgbClr val="D4956A"/>
                </a:solidFill>
                <a:latin typeface="Calibri" pitchFamily="34" charset="0"/>
                <a:ea typeface="Calibri" pitchFamily="34" charset="-122"/>
                <a:cs typeface="Calibri" pitchFamily="34" charset="-120"/>
              </a:rPr>
              <a:t>officiel​les, académiques et institutionnelles — pas seulement sur les réseaux</a:t>
            </a:r>
            <a:endParaRPr lang="en-US" sz="1300" dirty="0"/>
          </a:p>
        </p:txBody>
      </p:sp>
      <p:sp>
        <p:nvSpPr>
          <p:cNvPr id="7" name="Shape 5"/>
          <p:cNvSpPr/>
          <p:nvPr/>
        </p:nvSpPr>
        <p:spPr>
          <a:xfrm>
            <a:off x="7132320" y="731520"/>
            <a:ext cx="1645920" cy="1645920"/>
          </a:xfrm>
          <a:prstGeom prst="rect">
            <a:avLst/>
          </a:prstGeom>
          <a:solidFill>
            <a:srgbClr val="B85042">
              <a:alpha val="70000"/>
            </a:srgbClr>
          </a:solidFill>
          <a:ln/>
        </p:spPr>
      </p:sp>
      <p:sp>
        <p:nvSpPr>
          <p:cNvPr id="8" name="Shape 6"/>
          <p:cNvSpPr/>
          <p:nvPr/>
        </p:nvSpPr>
        <p:spPr>
          <a:xfrm>
            <a:off x="7498080" y="1463040"/>
            <a:ext cx="1371600" cy="1371600"/>
          </a:xfrm>
          <a:prstGeom prst="rect">
            <a:avLst/>
          </a:prstGeom>
          <a:solidFill>
            <a:srgbClr val="C17B3A">
              <a:alpha val="60000"/>
            </a:srgbClr>
          </a:solidFill>
          <a:ln/>
        </p:spPr>
      </p:sp>
      <p:sp>
        <p:nvSpPr>
          <p:cNvPr id="9" name="Shape 7"/>
          <p:cNvSpPr/>
          <p:nvPr/>
        </p:nvSpPr>
        <p:spPr>
          <a:xfrm>
            <a:off x="6766560" y="2560320"/>
            <a:ext cx="1828800" cy="1097280"/>
          </a:xfrm>
          <a:prstGeom prst="rect">
            <a:avLst/>
          </a:prstGeom>
          <a:solidFill>
            <a:srgbClr val="D4956A">
              <a:alpha val="75000"/>
            </a:srgbClr>
          </a:solidFill>
          <a:ln/>
        </p:spPr>
      </p:sp>
      <p:sp>
        <p:nvSpPr>
          <p:cNvPr id="10" name="Shape 8"/>
          <p:cNvSpPr/>
          <p:nvPr/>
        </p:nvSpPr>
        <p:spPr>
          <a:xfrm>
            <a:off x="0" y="4480560"/>
            <a:ext cx="9144000" cy="658368"/>
          </a:xfrm>
          <a:prstGeom prst="rect">
            <a:avLst/>
          </a:prstGeom>
          <a:solidFill>
            <a:srgbClr val="B85042"/>
          </a:solidFill>
          <a:ln/>
        </p:spPr>
      </p:sp>
      <p:sp>
        <p:nvSpPr>
          <p:cNvPr id="11" name="Text 9"/>
          <p:cNvSpPr/>
          <p:nvPr/>
        </p:nvSpPr>
        <p:spPr>
          <a:xfrm>
            <a:off x="457200" y="4526280"/>
            <a:ext cx="8229600" cy="548640"/>
          </a:xfrm>
          <a:prstGeom prst="rect">
            <a:avLst/>
          </a:prstGeom>
          <a:noFill/>
          <a:ln/>
        </p:spPr>
        <p:txBody>
          <a:bodyPr wrap="square" rtlCol="0" anchor="ctr"/>
          <a:lstStyle/>
          <a:p>
            <a:pPr algn="ctr" indent="0" marL="0">
              <a:buNone/>
            </a:pPr>
            <a:r>
              <a:rPr lang="en-US" sz="1100" spc="300" kern="0" dirty="0">
                <a:solidFill>
                  <a:srgbClr val="FFFFFF"/>
                </a:solidFill>
                <a:latin typeface="Calibri" pitchFamily="34" charset="0"/>
                <a:ea typeface="Calibri" pitchFamily="34" charset="-122"/>
                <a:cs typeface="Calibri" pitchFamily="34" charset="-120"/>
              </a:rPr>
              <a:t>CULTURE CHAOUI  ·  AURÈS  ·  PATRIMOINE ALGÉRIEN  ·  AMAZIGH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457200" y="320040"/>
            <a:ext cx="1097280" cy="320040"/>
          </a:xfrm>
          <a:prstGeom prst="rect">
            <a:avLst/>
          </a:prstGeom>
          <a:solidFill>
            <a:srgbClr val="B85042"/>
          </a:solidFill>
          <a:ln/>
        </p:spPr>
      </p:sp>
      <p:sp>
        <p:nvSpPr>
          <p:cNvPr id="3" name="Text 1"/>
          <p:cNvSpPr/>
          <p:nvPr/>
        </p:nvSpPr>
        <p:spPr>
          <a:xfrm>
            <a:off x="457200" y="320040"/>
            <a:ext cx="109728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CONTEXTE</a:t>
            </a:r>
            <a:endParaRPr lang="en-US" sz="1000" dirty="0"/>
          </a:p>
        </p:txBody>
      </p:sp>
      <p:sp>
        <p:nvSpPr>
          <p:cNvPr id="4" name="Text 2"/>
          <p:cNvSpPr/>
          <p:nvPr/>
        </p:nvSpPr>
        <p:spPr>
          <a:xfrm>
            <a:off x="457200" y="822960"/>
            <a:ext cx="8229600" cy="548640"/>
          </a:xfrm>
          <a:prstGeom prst="rect">
            <a:avLst/>
          </a:prstGeom>
          <a:noFill/>
          <a:ln/>
        </p:spPr>
        <p:txBody>
          <a:bodyPr wrap="square" lIns="0" tIns="0" rIns="0" bIns="0" rtlCol="0" anchor="ctr"/>
          <a:lstStyle/>
          <a:p>
            <a:pPr indent="0" marL="0">
              <a:buNone/>
            </a:pPr>
            <a:r>
              <a:rPr lang="en-US" sz="2600" b="1" dirty="0">
                <a:solidFill>
                  <a:srgbClr val="2D1810"/>
                </a:solidFill>
                <a:latin typeface="Georgia" pitchFamily="34" charset="0"/>
                <a:ea typeface="Georgia" pitchFamily="34" charset="-122"/>
                <a:cs typeface="Georgia" pitchFamily="34" charset="-120"/>
              </a:rPr>
              <a:t>La culture chaoui : un patrimoine millénaire</a:t>
            </a:r>
            <a:endParaRPr lang="en-US" sz="2600" dirty="0"/>
          </a:p>
        </p:txBody>
      </p:sp>
      <p:sp>
        <p:nvSpPr>
          <p:cNvPr id="5" name="Shape 3"/>
          <p:cNvSpPr/>
          <p:nvPr/>
        </p:nvSpPr>
        <p:spPr>
          <a:xfrm>
            <a:off x="457200" y="1600200"/>
            <a:ext cx="4846320" cy="3017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600200"/>
            <a:ext cx="64008" cy="3017520"/>
          </a:xfrm>
          <a:prstGeom prst="rect">
            <a:avLst/>
          </a:prstGeom>
          <a:solidFill>
            <a:srgbClr val="C17B3A"/>
          </a:solidFill>
          <a:ln/>
        </p:spPr>
      </p:sp>
      <p:sp>
        <p:nvSpPr>
          <p:cNvPr id="7" name="Text 5"/>
          <p:cNvSpPr/>
          <p:nvPr/>
        </p:nvSpPr>
        <p:spPr>
          <a:xfrm>
            <a:off x="777240" y="1783080"/>
            <a:ext cx="4297680" cy="1097280"/>
          </a:xfrm>
          <a:prstGeom prst="rect">
            <a:avLst/>
          </a:prstGeom>
          <a:noFill/>
          <a:ln/>
        </p:spPr>
        <p:txBody>
          <a:bodyPr wrap="square" lIns="0" tIns="0" rIns="0" bIns="0" rtlCol="0" anchor="ctr"/>
          <a:lstStyle/>
          <a:p>
            <a:pPr indent="0" marL="0">
              <a:lnSpc>
                <a:spcPct val="150000"/>
              </a:lnSpc>
              <a:buNone/>
            </a:pPr>
            <a:r>
              <a:rPr lang="en-US" sz="1250" dirty="0">
                <a:solidFill>
                  <a:srgbClr val="2D1810"/>
                </a:solidFill>
                <a:latin typeface="Calibri" pitchFamily="34" charset="0"/>
                <a:ea typeface="Calibri" pitchFamily="34" charset="-122"/>
                <a:cs typeface="Calibri" pitchFamily="34" charset="-120"/>
              </a:rPr>
              <a:t>La culture chaoui est une composante majeure du patrimoine algérien, ancrée dans le massif des Aurès, au nord-est de l'Algérie. Parlée par plus de 3 millions de locuteurs, la langue chaoui fait partie de la famille amazighe.</a:t>
            </a:r>
            <a:endParaRPr lang="en-US" sz="1250" dirty="0"/>
          </a:p>
        </p:txBody>
      </p:sp>
      <p:sp>
        <p:nvSpPr>
          <p:cNvPr id="8" name="Text 6"/>
          <p:cNvSpPr/>
          <p:nvPr/>
        </p:nvSpPr>
        <p:spPr>
          <a:xfrm>
            <a:off x="777240" y="2971800"/>
            <a:ext cx="4297680" cy="1280160"/>
          </a:xfrm>
          <a:prstGeom prst="rect">
            <a:avLst/>
          </a:prstGeom>
          <a:noFill/>
          <a:ln/>
        </p:spPr>
        <p:txBody>
          <a:bodyPr wrap="square" lIns="0" tIns="0" rIns="0" bIns="0" rtlCol="0" anchor="ctr"/>
          <a:lstStyle/>
          <a:p>
            <a:pPr indent="0" marL="0">
              <a:lnSpc>
                <a:spcPct val="150000"/>
              </a:lnSpc>
              <a:buNone/>
            </a:pPr>
            <a:r>
              <a:rPr lang="en-US" sz="1250" dirty="0">
                <a:solidFill>
                  <a:srgbClr val="7A6558"/>
                </a:solidFill>
                <a:latin typeface="Calibri" pitchFamily="34" charset="0"/>
                <a:ea typeface="Calibri" pitchFamily="34" charset="-122"/>
                <a:cs typeface="Calibri" pitchFamily="34" charset="-120"/>
              </a:rPr>
              <a:t>Musique (Rahaba), artisanat (tapis de Khenchela, poterie), architecture vernaculaire, fête de Yennar, poésie orale, cuisine de montagne — un patrimoine millénaire d'une richesse immense, mais encore largement sous-documenté et peu référencé.</a:t>
            </a:r>
            <a:endParaRPr lang="en-US" sz="1250" dirty="0"/>
          </a:p>
        </p:txBody>
      </p:sp>
      <p:sp>
        <p:nvSpPr>
          <p:cNvPr id="9" name="Shape 7"/>
          <p:cNvSpPr/>
          <p:nvPr/>
        </p:nvSpPr>
        <p:spPr>
          <a:xfrm>
            <a:off x="5669280" y="1600200"/>
            <a:ext cx="3017520" cy="8686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0" descr="preencoded.png">    </p:cNvPr>
          <p:cNvPicPr>
            <a:picLocks noChangeAspect="1"/>
          </p:cNvPicPr>
          <p:nvPr/>
        </p:nvPicPr>
        <p:blipFill>
          <a:blip r:embed="rId1"/>
          <a:stretch>
            <a:fillRect/>
          </a:stretch>
        </p:blipFill>
        <p:spPr>
          <a:xfrm>
            <a:off x="5897880" y="1801368"/>
            <a:ext cx="457200" cy="457200"/>
          </a:xfrm>
          <a:prstGeom prst="rect">
            <a:avLst/>
          </a:prstGeom>
        </p:spPr>
      </p:pic>
      <p:sp>
        <p:nvSpPr>
          <p:cNvPr id="11" name="Text 8"/>
          <p:cNvSpPr/>
          <p:nvPr/>
        </p:nvSpPr>
        <p:spPr>
          <a:xfrm>
            <a:off x="6537960" y="1673352"/>
            <a:ext cx="1920240" cy="411480"/>
          </a:xfrm>
          <a:prstGeom prst="rect">
            <a:avLst/>
          </a:prstGeom>
          <a:noFill/>
          <a:ln/>
        </p:spPr>
        <p:txBody>
          <a:bodyPr wrap="square" lIns="0" tIns="0" rIns="0" bIns="0" rtlCol="0" anchor="ctr"/>
          <a:lstStyle/>
          <a:p>
            <a:pPr indent="0" marL="0">
              <a:buNone/>
            </a:pPr>
            <a:r>
              <a:rPr lang="en-US" sz="2200" b="1" dirty="0">
                <a:solidFill>
                  <a:srgbClr val="B85042"/>
                </a:solidFill>
                <a:latin typeface="Georgia" pitchFamily="34" charset="0"/>
                <a:ea typeface="Georgia" pitchFamily="34" charset="-122"/>
                <a:cs typeface="Georgia" pitchFamily="34" charset="-120"/>
              </a:rPr>
              <a:t>3M+</a:t>
            </a:r>
            <a:endParaRPr lang="en-US" sz="2200" dirty="0"/>
          </a:p>
        </p:txBody>
      </p:sp>
      <p:sp>
        <p:nvSpPr>
          <p:cNvPr id="12" name="Text 9"/>
          <p:cNvSpPr/>
          <p:nvPr/>
        </p:nvSpPr>
        <p:spPr>
          <a:xfrm>
            <a:off x="6537960" y="2075688"/>
            <a:ext cx="1920240" cy="274320"/>
          </a:xfrm>
          <a:prstGeom prst="rect">
            <a:avLst/>
          </a:prstGeom>
          <a:noFill/>
          <a:ln/>
        </p:spPr>
        <p:txBody>
          <a:bodyPr wrap="square" lIns="0" tIns="0" rIns="0" bIns="0" rtlCol="0" anchor="ctr"/>
          <a:lstStyle/>
          <a:p>
            <a:pPr indent="0" marL="0">
              <a:buNone/>
            </a:pPr>
            <a:r>
              <a:rPr lang="en-US" sz="1100" dirty="0">
                <a:solidFill>
                  <a:srgbClr val="7A6558"/>
                </a:solidFill>
                <a:latin typeface="Calibri" pitchFamily="34" charset="0"/>
                <a:ea typeface="Calibri" pitchFamily="34" charset="-122"/>
                <a:cs typeface="Calibri" pitchFamily="34" charset="-120"/>
              </a:rPr>
              <a:t>Locuteurs de la langue</a:t>
            </a:r>
            <a:endParaRPr lang="en-US" sz="1100" dirty="0"/>
          </a:p>
        </p:txBody>
      </p:sp>
      <p:sp>
        <p:nvSpPr>
          <p:cNvPr id="13" name="Shape 10"/>
          <p:cNvSpPr/>
          <p:nvPr/>
        </p:nvSpPr>
        <p:spPr>
          <a:xfrm>
            <a:off x="5669280" y="2606040"/>
            <a:ext cx="3017520" cy="8686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4" name="Image 1" descr="preencoded.png">    </p:cNvPr>
          <p:cNvPicPr>
            <a:picLocks noChangeAspect="1"/>
          </p:cNvPicPr>
          <p:nvPr/>
        </p:nvPicPr>
        <p:blipFill>
          <a:blip r:embed="rId2"/>
          <a:stretch>
            <a:fillRect/>
          </a:stretch>
        </p:blipFill>
        <p:spPr>
          <a:xfrm>
            <a:off x="5897880" y="2807208"/>
            <a:ext cx="457200" cy="457200"/>
          </a:xfrm>
          <a:prstGeom prst="rect">
            <a:avLst/>
          </a:prstGeom>
        </p:spPr>
      </p:pic>
      <p:sp>
        <p:nvSpPr>
          <p:cNvPr id="15" name="Text 11"/>
          <p:cNvSpPr/>
          <p:nvPr/>
        </p:nvSpPr>
        <p:spPr>
          <a:xfrm>
            <a:off x="6537960" y="2679192"/>
            <a:ext cx="1920240" cy="411480"/>
          </a:xfrm>
          <a:prstGeom prst="rect">
            <a:avLst/>
          </a:prstGeom>
          <a:noFill/>
          <a:ln/>
        </p:spPr>
        <p:txBody>
          <a:bodyPr wrap="square" lIns="0" tIns="0" rIns="0" bIns="0" rtlCol="0" anchor="ctr"/>
          <a:lstStyle/>
          <a:p>
            <a:pPr indent="0" marL="0">
              <a:buNone/>
            </a:pPr>
            <a:r>
              <a:rPr lang="en-US" sz="2200" b="1" dirty="0">
                <a:solidFill>
                  <a:srgbClr val="B85042"/>
                </a:solidFill>
                <a:latin typeface="Georgia" pitchFamily="34" charset="0"/>
                <a:ea typeface="Georgia" pitchFamily="34" charset="-122"/>
                <a:cs typeface="Georgia" pitchFamily="34" charset="-120"/>
              </a:rPr>
              <a:t>10+</a:t>
            </a:r>
            <a:endParaRPr lang="en-US" sz="2200" dirty="0"/>
          </a:p>
        </p:txBody>
      </p:sp>
      <p:sp>
        <p:nvSpPr>
          <p:cNvPr id="16" name="Text 12"/>
          <p:cNvSpPr/>
          <p:nvPr/>
        </p:nvSpPr>
        <p:spPr>
          <a:xfrm>
            <a:off x="6537960" y="3081528"/>
            <a:ext cx="1920240" cy="274320"/>
          </a:xfrm>
          <a:prstGeom prst="rect">
            <a:avLst/>
          </a:prstGeom>
          <a:noFill/>
          <a:ln/>
        </p:spPr>
        <p:txBody>
          <a:bodyPr wrap="square" lIns="0" tIns="0" rIns="0" bIns="0" rtlCol="0" anchor="ctr"/>
          <a:lstStyle/>
          <a:p>
            <a:pPr indent="0" marL="0">
              <a:buNone/>
            </a:pPr>
            <a:r>
              <a:rPr lang="en-US" sz="1100" dirty="0">
                <a:solidFill>
                  <a:srgbClr val="7A6558"/>
                </a:solidFill>
                <a:latin typeface="Calibri" pitchFamily="34" charset="0"/>
                <a:ea typeface="Calibri" pitchFamily="34" charset="-122"/>
                <a:cs typeface="Calibri" pitchFamily="34" charset="-120"/>
              </a:rPr>
              <a:t>Wilayas concernées</a:t>
            </a:r>
            <a:endParaRPr lang="en-US" sz="1100" dirty="0"/>
          </a:p>
        </p:txBody>
      </p:sp>
      <p:sp>
        <p:nvSpPr>
          <p:cNvPr id="17" name="Shape 13"/>
          <p:cNvSpPr/>
          <p:nvPr/>
        </p:nvSpPr>
        <p:spPr>
          <a:xfrm>
            <a:off x="5669280" y="3611880"/>
            <a:ext cx="3017520" cy="8686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8" name="Image 2" descr="preencoded.png">    </p:cNvPr>
          <p:cNvPicPr>
            <a:picLocks noChangeAspect="1"/>
          </p:cNvPicPr>
          <p:nvPr/>
        </p:nvPicPr>
        <p:blipFill>
          <a:blip r:embed="rId3"/>
          <a:stretch>
            <a:fillRect/>
          </a:stretch>
        </p:blipFill>
        <p:spPr>
          <a:xfrm>
            <a:off x="5897880" y="3813048"/>
            <a:ext cx="457200" cy="457200"/>
          </a:xfrm>
          <a:prstGeom prst="rect">
            <a:avLst/>
          </a:prstGeom>
        </p:spPr>
      </p:pic>
      <p:sp>
        <p:nvSpPr>
          <p:cNvPr id="19" name="Text 14"/>
          <p:cNvSpPr/>
          <p:nvPr/>
        </p:nvSpPr>
        <p:spPr>
          <a:xfrm>
            <a:off x="6537960" y="3685032"/>
            <a:ext cx="1920240" cy="411480"/>
          </a:xfrm>
          <a:prstGeom prst="rect">
            <a:avLst/>
          </a:prstGeom>
          <a:noFill/>
          <a:ln/>
        </p:spPr>
        <p:txBody>
          <a:bodyPr wrap="square" lIns="0" tIns="0" rIns="0" bIns="0" rtlCol="0" anchor="ctr"/>
          <a:lstStyle/>
          <a:p>
            <a:pPr indent="0" marL="0">
              <a:buNone/>
            </a:pPr>
            <a:r>
              <a:rPr lang="en-US" sz="2200" b="1" dirty="0">
                <a:solidFill>
                  <a:srgbClr val="B85042"/>
                </a:solidFill>
                <a:latin typeface="Georgia" pitchFamily="34" charset="0"/>
                <a:ea typeface="Georgia" pitchFamily="34" charset="-122"/>
                <a:cs typeface="Georgia" pitchFamily="34" charset="-120"/>
              </a:rPr>
              <a:t>3000+</a:t>
            </a:r>
            <a:endParaRPr lang="en-US" sz="2200" dirty="0"/>
          </a:p>
        </p:txBody>
      </p:sp>
      <p:sp>
        <p:nvSpPr>
          <p:cNvPr id="20" name="Text 15"/>
          <p:cNvSpPr/>
          <p:nvPr/>
        </p:nvSpPr>
        <p:spPr>
          <a:xfrm>
            <a:off x="6537960" y="4087368"/>
            <a:ext cx="1920240" cy="274320"/>
          </a:xfrm>
          <a:prstGeom prst="rect">
            <a:avLst/>
          </a:prstGeom>
          <a:noFill/>
          <a:ln/>
        </p:spPr>
        <p:txBody>
          <a:bodyPr wrap="square" lIns="0" tIns="0" rIns="0" bIns="0" rtlCol="0" anchor="ctr"/>
          <a:lstStyle/>
          <a:p>
            <a:pPr indent="0" marL="0">
              <a:buNone/>
            </a:pPr>
            <a:r>
              <a:rPr lang="en-US" sz="1100" dirty="0">
                <a:solidFill>
                  <a:srgbClr val="7A6558"/>
                </a:solidFill>
                <a:latin typeface="Calibri" pitchFamily="34" charset="0"/>
                <a:ea typeface="Calibri" pitchFamily="34" charset="-122"/>
                <a:cs typeface="Calibri" pitchFamily="34" charset="-120"/>
              </a:rPr>
              <a:t>Ans d'histoire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457200" y="320040"/>
            <a:ext cx="1463040" cy="320040"/>
          </a:xfrm>
          <a:prstGeom prst="rect">
            <a:avLst/>
          </a:prstGeom>
          <a:solidFill>
            <a:srgbClr val="C0392B"/>
          </a:solidFill>
          <a:ln/>
        </p:spPr>
      </p:sp>
      <p:sp>
        <p:nvSpPr>
          <p:cNvPr id="3" name="Text 1"/>
          <p:cNvSpPr/>
          <p:nvPr/>
        </p:nvSpPr>
        <p:spPr>
          <a:xfrm>
            <a:off x="457200" y="320040"/>
            <a:ext cx="146304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LE PIÈGE</a:t>
            </a:r>
            <a:endParaRPr lang="en-US" sz="1000" dirty="0"/>
          </a:p>
        </p:txBody>
      </p:sp>
      <p:sp>
        <p:nvSpPr>
          <p:cNvPr id="4" name="Text 2"/>
          <p:cNvSpPr/>
          <p:nvPr/>
        </p:nvSpPr>
        <p:spPr>
          <a:xfrm>
            <a:off x="457200" y="822960"/>
            <a:ext cx="8229600" cy="548640"/>
          </a:xfrm>
          <a:prstGeom prst="rect">
            <a:avLst/>
          </a:prstGeom>
          <a:noFill/>
          <a:ln/>
        </p:spPr>
        <p:txBody>
          <a:bodyPr wrap="square" lIns="0" tIns="0" rIns="0" bIns="0" rtlCol="0" anchor="ctr"/>
          <a:lstStyle/>
          <a:p>
            <a:pPr indent="0" marL="0">
              <a:buNone/>
            </a:pPr>
            <a:r>
              <a:rPr lang="en-US" sz="2800" b="1" dirty="0">
                <a:solidFill>
                  <a:srgbClr val="2D1810"/>
                </a:solidFill>
                <a:latin typeface="Georgia" pitchFamily="34" charset="0"/>
                <a:ea typeface="Georgia" pitchFamily="34" charset="-122"/>
                <a:cs typeface="Georgia" pitchFamily="34" charset="-120"/>
              </a:rPr>
              <a:t>L'illusion des réseaux sociaux</a:t>
            </a:r>
            <a:endParaRPr lang="en-US" sz="2800" dirty="0"/>
          </a:p>
        </p:txBody>
      </p:sp>
      <p:sp>
        <p:nvSpPr>
          <p:cNvPr id="5" name="Shape 3"/>
          <p:cNvSpPr/>
          <p:nvPr/>
        </p:nvSpPr>
        <p:spPr>
          <a:xfrm>
            <a:off x="457200" y="1508760"/>
            <a:ext cx="402336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508760"/>
            <a:ext cx="4023360" cy="73152"/>
          </a:xfrm>
          <a:prstGeom prst="rect">
            <a:avLst/>
          </a:prstGeom>
          <a:solidFill>
            <a:srgbClr val="C0392B"/>
          </a:solidFill>
          <a:ln/>
        </p:spPr>
      </p:sp>
      <p:pic>
        <p:nvPicPr>
          <p:cNvPr id="7" name="Image 0" descr="preencoded.png">    </p:cNvPr>
          <p:cNvPicPr>
            <a:picLocks noChangeAspect="1"/>
          </p:cNvPicPr>
          <p:nvPr/>
        </p:nvPicPr>
        <p:blipFill>
          <a:blip r:embed="rId1"/>
          <a:stretch>
            <a:fillRect/>
          </a:stretch>
        </p:blipFill>
        <p:spPr>
          <a:xfrm>
            <a:off x="731520" y="1783080"/>
            <a:ext cx="457200" cy="457200"/>
          </a:xfrm>
          <a:prstGeom prst="rect">
            <a:avLst/>
          </a:prstGeom>
        </p:spPr>
      </p:pic>
      <p:sp>
        <p:nvSpPr>
          <p:cNvPr id="8" name="Text 5"/>
          <p:cNvSpPr/>
          <p:nvPr/>
        </p:nvSpPr>
        <p:spPr>
          <a:xfrm>
            <a:off x="1325880" y="1737360"/>
            <a:ext cx="2926080" cy="594360"/>
          </a:xfrm>
          <a:prstGeom prst="rect">
            <a:avLst/>
          </a:prstGeom>
          <a:noFill/>
          <a:ln/>
        </p:spPr>
        <p:txBody>
          <a:bodyPr wrap="square" lIns="0" tIns="0" rIns="0" bIns="0" rtlCol="0" anchor="ctr"/>
          <a:lstStyle/>
          <a:p>
            <a:pPr indent="0" marL="0">
              <a:lnSpc>
                <a:spcPct val="115000"/>
              </a:lnSpc>
              <a:buNone/>
            </a:pPr>
            <a:r>
              <a:rPr lang="en-US" sz="1600" b="1" dirty="0">
                <a:solidFill>
                  <a:srgbClr val="C0392B"/>
                </a:solidFill>
                <a:latin typeface="Georgia" pitchFamily="34" charset="0"/>
                <a:ea typeface="Georgia" pitchFamily="34" charset="-122"/>
                <a:cs typeface="Georgia" pitchFamily="34" charset="-120"/>
              </a:rPr>
              <a:t>Le faux sentiment</a:t>
            </a:r>
            <a:endParaRPr lang="en-US" sz="1600" dirty="0"/>
          </a:p>
          <a:p>
            <a:pPr indent="0" marL="0">
              <a:lnSpc>
                <a:spcPct val="115000"/>
              </a:lnSpc>
              <a:buNone/>
            </a:pPr>
            <a:r>
              <a:rPr lang="en-US" sz="1600" b="1" dirty="0">
                <a:solidFill>
                  <a:srgbClr val="C0392B"/>
                </a:solidFill>
                <a:latin typeface="Georgia" pitchFamily="34" charset="0"/>
                <a:ea typeface="Georgia" pitchFamily="34" charset="-122"/>
                <a:cs typeface="Georgia" pitchFamily="34" charset="-120"/>
              </a:rPr>
              <a:t>de préservation</a:t>
            </a:r>
            <a:endParaRPr lang="en-US" sz="1600" dirty="0"/>
          </a:p>
        </p:txBody>
      </p:sp>
      <p:sp>
        <p:nvSpPr>
          <p:cNvPr id="9" name="Text 6"/>
          <p:cNvSpPr/>
          <p:nvPr/>
        </p:nvSpPr>
        <p:spPr>
          <a:xfrm>
            <a:off x="731520" y="2468880"/>
            <a:ext cx="3520440" cy="960120"/>
          </a:xfrm>
          <a:prstGeom prst="rect">
            <a:avLst/>
          </a:prstGeom>
          <a:noFill/>
          <a:ln/>
        </p:spPr>
        <p:txBody>
          <a:bodyPr wrap="square" lIns="0" tIns="0" rIns="0" bIns="0" rtlCol="0" anchor="ctr"/>
          <a:lstStyle/>
          <a:p>
            <a:pPr indent="0" marL="0">
              <a:lnSpc>
                <a:spcPct val="145000"/>
              </a:lnSpc>
              <a:buNone/>
            </a:pPr>
            <a:r>
              <a:rPr lang="en-US" sz="1100" dirty="0">
                <a:solidFill>
                  <a:srgbClr val="2D1810"/>
                </a:solidFill>
                <a:latin typeface="Calibri" pitchFamily="34" charset="0"/>
                <a:ea typeface="Calibri" pitchFamily="34" charset="-122"/>
                <a:cs typeface="Calibri" pitchFamily="34" charset="-120"/>
              </a:rPr>
              <a:t>Oui, il existe des pages Facebook, Instagram, TikTok sur la culture chaoui. Mais cette présence crée une illusion dangereuse : on croit que la culture est « sauvegardée » parce qu'elle est « en ligne ».</a:t>
            </a:r>
            <a:endParaRPr lang="en-US" sz="1100" dirty="0"/>
          </a:p>
        </p:txBody>
      </p:sp>
      <p:sp>
        <p:nvSpPr>
          <p:cNvPr id="10" name="Text 7"/>
          <p:cNvSpPr/>
          <p:nvPr/>
        </p:nvSpPr>
        <p:spPr>
          <a:xfrm>
            <a:off x="731520" y="3474720"/>
            <a:ext cx="3520440" cy="1051560"/>
          </a:xfrm>
          <a:prstGeom prst="rect">
            <a:avLst/>
          </a:prstGeom>
          <a:noFill/>
          <a:ln/>
        </p:spPr>
        <p:txBody>
          <a:bodyPr wrap="square" lIns="0" tIns="0" rIns="0" bIns="0" rtlCol="0" anchor="ctr"/>
          <a:lstStyle/>
          <a:p>
            <a:pPr indent="0" marL="0">
              <a:lnSpc>
                <a:spcPct val="145000"/>
              </a:lnSpc>
              <a:buNone/>
            </a:pPr>
            <a:r>
              <a:rPr lang="en-US" sz="1100" b="1" dirty="0">
                <a:solidFill>
                  <a:srgbClr val="C0392B"/>
                </a:solidFill>
                <a:latin typeface="Calibri" pitchFamily="34" charset="0"/>
                <a:ea typeface="Calibri" pitchFamily="34" charset="-122"/>
                <a:cs typeface="Calibri" pitchFamily="34" charset="-120"/>
              </a:rPr>
              <a:t>En réalité, les réseaux sociaux ne sont pas des références. Ce n'est ni de l'archivage, ni de la documentation, ni du référencement. C'est du contenu éphémère qui peut disparaître du jour au lendemain.</a:t>
            </a:r>
            <a:endParaRPr lang="en-US" sz="1100" dirty="0"/>
          </a:p>
        </p:txBody>
      </p:sp>
      <p:sp>
        <p:nvSpPr>
          <p:cNvPr id="11" name="Shape 8"/>
          <p:cNvSpPr/>
          <p:nvPr/>
        </p:nvSpPr>
        <p:spPr>
          <a:xfrm>
            <a:off x="4709160" y="1508760"/>
            <a:ext cx="4023360" cy="566928"/>
          </a:xfrm>
          <a:prstGeom prst="rect">
            <a:avLst/>
          </a:prstGeom>
          <a:solidFill>
            <a:srgbClr val="FADBD8">
              <a:alpha val="50000"/>
            </a:srgbClr>
          </a:solidFill>
          <a:ln/>
        </p:spPr>
      </p:sp>
      <p:pic>
        <p:nvPicPr>
          <p:cNvPr id="12" name="Image 1" descr="preencoded.png">    </p:cNvPr>
          <p:cNvPicPr>
            <a:picLocks noChangeAspect="1"/>
          </p:cNvPicPr>
          <p:nvPr/>
        </p:nvPicPr>
        <p:blipFill>
          <a:blip r:embed="rId2"/>
          <a:stretch>
            <a:fillRect/>
          </a:stretch>
        </p:blipFill>
        <p:spPr>
          <a:xfrm>
            <a:off x="4846320" y="1645920"/>
            <a:ext cx="274320" cy="274320"/>
          </a:xfrm>
          <a:prstGeom prst="rect">
            <a:avLst/>
          </a:prstGeom>
        </p:spPr>
      </p:pic>
      <p:sp>
        <p:nvSpPr>
          <p:cNvPr id="13" name="Text 9"/>
          <p:cNvSpPr/>
          <p:nvPr/>
        </p:nvSpPr>
        <p:spPr>
          <a:xfrm>
            <a:off x="5257800" y="1554480"/>
            <a:ext cx="3291840" cy="475488"/>
          </a:xfrm>
          <a:prstGeom prst="rect">
            <a:avLst/>
          </a:prstGeom>
          <a:noFill/>
          <a:ln/>
        </p:spPr>
        <p:txBody>
          <a:bodyPr wrap="square" lIns="0" tIns="0" rIns="0" bIns="0" rtlCol="0" anchor="ctr"/>
          <a:lstStyle/>
          <a:p>
            <a:pPr indent="0" marL="0">
              <a:lnSpc>
                <a:spcPct val="130000"/>
              </a:lnSpc>
              <a:buNone/>
            </a:pPr>
            <a:r>
              <a:rPr lang="en-US" sz="1000" dirty="0">
                <a:solidFill>
                  <a:srgbClr val="2D1810"/>
                </a:solidFill>
                <a:latin typeface="Calibri" pitchFamily="34" charset="0"/>
                <a:ea typeface="Calibri" pitchFamily="34" charset="-122"/>
                <a:cs typeface="Calibri" pitchFamily="34" charset="-120"/>
              </a:rPr>
              <a:t>Contenu éphémère — une page peut être supprimée, un algorithme peut l'invisibiliser</a:t>
            </a:r>
            <a:endParaRPr lang="en-US" sz="1000" dirty="0"/>
          </a:p>
        </p:txBody>
      </p:sp>
      <p:sp>
        <p:nvSpPr>
          <p:cNvPr id="14" name="Shape 10"/>
          <p:cNvSpPr/>
          <p:nvPr/>
        </p:nvSpPr>
        <p:spPr>
          <a:xfrm>
            <a:off x="4709160" y="2148840"/>
            <a:ext cx="4023360" cy="566928"/>
          </a:xfrm>
          <a:prstGeom prst="rect">
            <a:avLst/>
          </a:prstGeom>
          <a:solidFill>
            <a:srgbClr val="FADBD8">
              <a:alpha val="50000"/>
            </a:srgbClr>
          </a:solidFill>
          <a:ln/>
        </p:spPr>
      </p:sp>
      <p:pic>
        <p:nvPicPr>
          <p:cNvPr id="15" name="Image 2" descr="preencoded.png">    </p:cNvPr>
          <p:cNvPicPr>
            <a:picLocks noChangeAspect="1"/>
          </p:cNvPicPr>
          <p:nvPr/>
        </p:nvPicPr>
        <p:blipFill>
          <a:blip r:embed="rId3"/>
          <a:stretch>
            <a:fillRect/>
          </a:stretch>
        </p:blipFill>
        <p:spPr>
          <a:xfrm>
            <a:off x="4846320" y="2286000"/>
            <a:ext cx="274320" cy="274320"/>
          </a:xfrm>
          <a:prstGeom prst="rect">
            <a:avLst/>
          </a:prstGeom>
        </p:spPr>
      </p:pic>
      <p:sp>
        <p:nvSpPr>
          <p:cNvPr id="16" name="Text 11"/>
          <p:cNvSpPr/>
          <p:nvPr/>
        </p:nvSpPr>
        <p:spPr>
          <a:xfrm>
            <a:off x="5257800" y="2194560"/>
            <a:ext cx="3291840" cy="475488"/>
          </a:xfrm>
          <a:prstGeom prst="rect">
            <a:avLst/>
          </a:prstGeom>
          <a:noFill/>
          <a:ln/>
        </p:spPr>
        <p:txBody>
          <a:bodyPr wrap="square" lIns="0" tIns="0" rIns="0" bIns="0" rtlCol="0" anchor="ctr"/>
          <a:lstStyle/>
          <a:p>
            <a:pPr indent="0" marL="0">
              <a:lnSpc>
                <a:spcPct val="130000"/>
              </a:lnSpc>
              <a:buNone/>
            </a:pPr>
            <a:r>
              <a:rPr lang="en-US" sz="1000" dirty="0">
                <a:solidFill>
                  <a:srgbClr val="2D1810"/>
                </a:solidFill>
                <a:latin typeface="Calibri" pitchFamily="34" charset="0"/>
                <a:ea typeface="Calibri" pitchFamily="34" charset="-122"/>
                <a:cs typeface="Calibri" pitchFamily="34" charset="-120"/>
              </a:rPr>
              <a:t>Aucune vérification — n'importe qui peut publier des informations fausses ou déformées</a:t>
            </a:r>
            <a:endParaRPr lang="en-US" sz="1000" dirty="0"/>
          </a:p>
        </p:txBody>
      </p:sp>
      <p:sp>
        <p:nvSpPr>
          <p:cNvPr id="17" name="Shape 12"/>
          <p:cNvSpPr/>
          <p:nvPr/>
        </p:nvSpPr>
        <p:spPr>
          <a:xfrm>
            <a:off x="4709160" y="2788920"/>
            <a:ext cx="4023360" cy="566928"/>
          </a:xfrm>
          <a:prstGeom prst="rect">
            <a:avLst/>
          </a:prstGeom>
          <a:solidFill>
            <a:srgbClr val="FADBD8">
              <a:alpha val="50000"/>
            </a:srgbClr>
          </a:solidFill>
          <a:ln/>
        </p:spPr>
      </p:sp>
      <p:pic>
        <p:nvPicPr>
          <p:cNvPr id="18" name="Image 3" descr="preencoded.png">    </p:cNvPr>
          <p:cNvPicPr>
            <a:picLocks noChangeAspect="1"/>
          </p:cNvPicPr>
          <p:nvPr/>
        </p:nvPicPr>
        <p:blipFill>
          <a:blip r:embed="rId4"/>
          <a:stretch>
            <a:fillRect/>
          </a:stretch>
        </p:blipFill>
        <p:spPr>
          <a:xfrm>
            <a:off x="4846320" y="2926080"/>
            <a:ext cx="274320" cy="274320"/>
          </a:xfrm>
          <a:prstGeom prst="rect">
            <a:avLst/>
          </a:prstGeom>
        </p:spPr>
      </p:pic>
      <p:sp>
        <p:nvSpPr>
          <p:cNvPr id="19" name="Text 13"/>
          <p:cNvSpPr/>
          <p:nvPr/>
        </p:nvSpPr>
        <p:spPr>
          <a:xfrm>
            <a:off x="5257800" y="2834640"/>
            <a:ext cx="3291840" cy="475488"/>
          </a:xfrm>
          <a:prstGeom prst="rect">
            <a:avLst/>
          </a:prstGeom>
          <a:noFill/>
          <a:ln/>
        </p:spPr>
        <p:txBody>
          <a:bodyPr wrap="square" lIns="0" tIns="0" rIns="0" bIns="0" rtlCol="0" anchor="ctr"/>
          <a:lstStyle/>
          <a:p>
            <a:pPr indent="0" marL="0">
              <a:lnSpc>
                <a:spcPct val="130000"/>
              </a:lnSpc>
              <a:buNone/>
            </a:pPr>
            <a:r>
              <a:rPr lang="en-US" sz="1000" dirty="0">
                <a:solidFill>
                  <a:srgbClr val="2D1810"/>
                </a:solidFill>
                <a:latin typeface="Calibri" pitchFamily="34" charset="0"/>
                <a:ea typeface="Calibri" pitchFamily="34" charset="-122"/>
                <a:cs typeface="Calibri" pitchFamily="34" charset="-120"/>
              </a:rPr>
              <a:t>Superficialité — des clips de 30 secondes ne remplacent pas une étude ethnographique</a:t>
            </a:r>
            <a:endParaRPr lang="en-US" sz="1000" dirty="0"/>
          </a:p>
        </p:txBody>
      </p:sp>
      <p:sp>
        <p:nvSpPr>
          <p:cNvPr id="20" name="Shape 14"/>
          <p:cNvSpPr/>
          <p:nvPr/>
        </p:nvSpPr>
        <p:spPr>
          <a:xfrm>
            <a:off x="4709160" y="3429000"/>
            <a:ext cx="4023360" cy="566928"/>
          </a:xfrm>
          <a:prstGeom prst="rect">
            <a:avLst/>
          </a:prstGeom>
          <a:solidFill>
            <a:srgbClr val="FADBD8">
              <a:alpha val="50000"/>
            </a:srgbClr>
          </a:solidFill>
          <a:ln/>
        </p:spPr>
      </p:sp>
      <p:pic>
        <p:nvPicPr>
          <p:cNvPr id="21" name="Image 4" descr="preencoded.png">    </p:cNvPr>
          <p:cNvPicPr>
            <a:picLocks noChangeAspect="1"/>
          </p:cNvPicPr>
          <p:nvPr/>
        </p:nvPicPr>
        <p:blipFill>
          <a:blip r:embed="rId5"/>
          <a:stretch>
            <a:fillRect/>
          </a:stretch>
        </p:blipFill>
        <p:spPr>
          <a:xfrm>
            <a:off x="4846320" y="3566160"/>
            <a:ext cx="274320" cy="274320"/>
          </a:xfrm>
          <a:prstGeom prst="rect">
            <a:avLst/>
          </a:prstGeom>
        </p:spPr>
      </p:pic>
      <p:sp>
        <p:nvSpPr>
          <p:cNvPr id="22" name="Text 15"/>
          <p:cNvSpPr/>
          <p:nvPr/>
        </p:nvSpPr>
        <p:spPr>
          <a:xfrm>
            <a:off x="5257800" y="3474720"/>
            <a:ext cx="3291840" cy="475488"/>
          </a:xfrm>
          <a:prstGeom prst="rect">
            <a:avLst/>
          </a:prstGeom>
          <a:noFill/>
          <a:ln/>
        </p:spPr>
        <p:txBody>
          <a:bodyPr wrap="square" lIns="0" tIns="0" rIns="0" bIns="0" rtlCol="0" anchor="ctr"/>
          <a:lstStyle/>
          <a:p>
            <a:pPr indent="0" marL="0">
              <a:lnSpc>
                <a:spcPct val="130000"/>
              </a:lnSpc>
              <a:buNone/>
            </a:pPr>
            <a:r>
              <a:rPr lang="en-US" sz="1000" dirty="0">
                <a:solidFill>
                  <a:srgbClr val="2D1810"/>
                </a:solidFill>
                <a:latin typeface="Calibri" pitchFamily="34" charset="0"/>
                <a:ea typeface="Calibri" pitchFamily="34" charset="-122"/>
                <a:cs typeface="Calibri" pitchFamily="34" charset="-120"/>
              </a:rPr>
              <a:t>Pas de classement — aucun moteur académique ne référence un post Instagram</a:t>
            </a:r>
            <a:endParaRPr lang="en-US" sz="1000" dirty="0"/>
          </a:p>
        </p:txBody>
      </p:sp>
      <p:sp>
        <p:nvSpPr>
          <p:cNvPr id="23" name="Shape 16"/>
          <p:cNvSpPr/>
          <p:nvPr/>
        </p:nvSpPr>
        <p:spPr>
          <a:xfrm>
            <a:off x="4709160" y="4069080"/>
            <a:ext cx="4023360" cy="566928"/>
          </a:xfrm>
          <a:prstGeom prst="rect">
            <a:avLst/>
          </a:prstGeom>
          <a:solidFill>
            <a:srgbClr val="FADBD8">
              <a:alpha val="50000"/>
            </a:srgbClr>
          </a:solidFill>
          <a:ln/>
        </p:spPr>
      </p:sp>
      <p:pic>
        <p:nvPicPr>
          <p:cNvPr id="24" name="Image 5" descr="preencoded.png">    </p:cNvPr>
          <p:cNvPicPr>
            <a:picLocks noChangeAspect="1"/>
          </p:cNvPicPr>
          <p:nvPr/>
        </p:nvPicPr>
        <p:blipFill>
          <a:blip r:embed="rId6"/>
          <a:stretch>
            <a:fillRect/>
          </a:stretch>
        </p:blipFill>
        <p:spPr>
          <a:xfrm>
            <a:off x="4846320" y="4206240"/>
            <a:ext cx="274320" cy="274320"/>
          </a:xfrm>
          <a:prstGeom prst="rect">
            <a:avLst/>
          </a:prstGeom>
        </p:spPr>
      </p:pic>
      <p:sp>
        <p:nvSpPr>
          <p:cNvPr id="25" name="Text 17"/>
          <p:cNvSpPr/>
          <p:nvPr/>
        </p:nvSpPr>
        <p:spPr>
          <a:xfrm>
            <a:off x="5257800" y="4114800"/>
            <a:ext cx="3291840" cy="475488"/>
          </a:xfrm>
          <a:prstGeom prst="rect">
            <a:avLst/>
          </a:prstGeom>
          <a:noFill/>
          <a:ln/>
        </p:spPr>
        <p:txBody>
          <a:bodyPr wrap="square" lIns="0" tIns="0" rIns="0" bIns="0" rtlCol="0" anchor="ctr"/>
          <a:lstStyle/>
          <a:p>
            <a:pPr indent="0" marL="0">
              <a:lnSpc>
                <a:spcPct val="130000"/>
              </a:lnSpc>
              <a:buNone/>
            </a:pPr>
            <a:r>
              <a:rPr lang="en-US" sz="1000" dirty="0">
                <a:solidFill>
                  <a:srgbClr val="2D1810"/>
                </a:solidFill>
                <a:latin typeface="Calibri" pitchFamily="34" charset="0"/>
                <a:ea typeface="Calibri" pitchFamily="34" charset="-122"/>
                <a:cs typeface="Calibri" pitchFamily="34" charset="-120"/>
              </a:rPr>
              <a:t>Divertissement ≠ Savoir — liker une vidéo de danse ne transmet pas la culture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D1810"/>
        </a:solidFill>
      </p:bgPr>
    </p:bg>
    <p:spTree>
      <p:nvGrpSpPr>
        <p:cNvPr id="1" name=""/>
        <p:cNvGrpSpPr/>
        <p:nvPr/>
      </p:nvGrpSpPr>
      <p:grpSpPr>
        <a:xfrm>
          <a:off x="0" y="0"/>
          <a:ext cx="0" cy="0"/>
          <a:chOff x="0" y="0"/>
          <a:chExt cx="0" cy="0"/>
        </a:xfrm>
      </p:grpSpPr>
      <p:sp>
        <p:nvSpPr>
          <p:cNvPr id="2" name="Shape 0"/>
          <p:cNvSpPr/>
          <p:nvPr/>
        </p:nvSpPr>
        <p:spPr>
          <a:xfrm>
            <a:off x="457200" y="320040"/>
            <a:ext cx="1828800" cy="320040"/>
          </a:xfrm>
          <a:prstGeom prst="rect">
            <a:avLst/>
          </a:prstGeom>
          <a:solidFill>
            <a:srgbClr val="C17B3A"/>
          </a:solidFill>
          <a:ln/>
        </p:spPr>
      </p:sp>
      <p:sp>
        <p:nvSpPr>
          <p:cNvPr id="3" name="Text 1"/>
          <p:cNvSpPr/>
          <p:nvPr/>
        </p:nvSpPr>
        <p:spPr>
          <a:xfrm>
            <a:off x="457200" y="320040"/>
            <a:ext cx="182880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COMPARAISON</a:t>
            </a:r>
            <a:endParaRPr lang="en-US" sz="1000" dirty="0"/>
          </a:p>
        </p:txBody>
      </p:sp>
      <p:sp>
        <p:nvSpPr>
          <p:cNvPr id="4" name="Text 2"/>
          <p:cNvSpPr/>
          <p:nvPr/>
        </p:nvSpPr>
        <p:spPr>
          <a:xfrm>
            <a:off x="457200" y="822960"/>
            <a:ext cx="8229600" cy="54864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Réseaux sociaux vs Vraies références</a:t>
            </a:r>
            <a:endParaRPr lang="en-US" sz="2700" dirty="0"/>
          </a:p>
        </p:txBody>
      </p:sp>
      <p:sp>
        <p:nvSpPr>
          <p:cNvPr id="5" name="Shape 3"/>
          <p:cNvSpPr/>
          <p:nvPr/>
        </p:nvSpPr>
        <p:spPr>
          <a:xfrm>
            <a:off x="457200" y="1508760"/>
            <a:ext cx="3977640" cy="502920"/>
          </a:xfrm>
          <a:prstGeom prst="rect">
            <a:avLst/>
          </a:prstGeom>
          <a:solidFill>
            <a:srgbClr val="C0392B"/>
          </a:solidFill>
          <a:ln/>
        </p:spPr>
      </p:sp>
      <p:pic>
        <p:nvPicPr>
          <p:cNvPr id="6" name="Image 0" descr="preencoded.png">    </p:cNvPr>
          <p:cNvPicPr>
            <a:picLocks noChangeAspect="1"/>
          </p:cNvPicPr>
          <p:nvPr/>
        </p:nvPicPr>
        <p:blipFill>
          <a:blip r:embed="rId1"/>
          <a:stretch>
            <a:fillRect/>
          </a:stretch>
        </p:blipFill>
        <p:spPr>
          <a:xfrm>
            <a:off x="640080" y="1581912"/>
            <a:ext cx="320040" cy="320040"/>
          </a:xfrm>
          <a:prstGeom prst="rect">
            <a:avLst/>
          </a:prstGeom>
        </p:spPr>
      </p:pic>
      <p:sp>
        <p:nvSpPr>
          <p:cNvPr id="7" name="Text 4"/>
          <p:cNvSpPr/>
          <p:nvPr/>
        </p:nvSpPr>
        <p:spPr>
          <a:xfrm>
            <a:off x="1051560" y="1508760"/>
            <a:ext cx="3200400" cy="50292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Réseaux sociaux</a:t>
            </a:r>
            <a:endParaRPr lang="en-US" sz="1500" dirty="0"/>
          </a:p>
        </p:txBody>
      </p:sp>
      <p:sp>
        <p:nvSpPr>
          <p:cNvPr id="8" name="Shape 5"/>
          <p:cNvSpPr/>
          <p:nvPr/>
        </p:nvSpPr>
        <p:spPr>
          <a:xfrm>
            <a:off x="4709160" y="1508760"/>
            <a:ext cx="3977640" cy="502920"/>
          </a:xfrm>
          <a:prstGeom prst="rect">
            <a:avLst/>
          </a:prstGeom>
          <a:solidFill>
            <a:srgbClr val="27AE60"/>
          </a:solidFill>
          <a:ln/>
        </p:spPr>
      </p:sp>
      <p:pic>
        <p:nvPicPr>
          <p:cNvPr id="9" name="Image 1" descr="preencoded.png">    </p:cNvPr>
          <p:cNvPicPr>
            <a:picLocks noChangeAspect="1"/>
          </p:cNvPicPr>
          <p:nvPr/>
        </p:nvPicPr>
        <p:blipFill>
          <a:blip r:embed="rId2"/>
          <a:stretch>
            <a:fillRect/>
          </a:stretch>
        </p:blipFill>
        <p:spPr>
          <a:xfrm>
            <a:off x="4892040" y="1581912"/>
            <a:ext cx="320040" cy="320040"/>
          </a:xfrm>
          <a:prstGeom prst="rect">
            <a:avLst/>
          </a:prstGeom>
        </p:spPr>
      </p:pic>
      <p:sp>
        <p:nvSpPr>
          <p:cNvPr id="10" name="Text 6"/>
          <p:cNvSpPr/>
          <p:nvPr/>
        </p:nvSpPr>
        <p:spPr>
          <a:xfrm>
            <a:off x="5303520" y="1508760"/>
            <a:ext cx="3200400" cy="50292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Vraies références</a:t>
            </a:r>
            <a:endParaRPr lang="en-US" sz="1500" dirty="0"/>
          </a:p>
        </p:txBody>
      </p:sp>
      <p:sp>
        <p:nvSpPr>
          <p:cNvPr id="11" name="Shape 7"/>
          <p:cNvSpPr/>
          <p:nvPr/>
        </p:nvSpPr>
        <p:spPr>
          <a:xfrm>
            <a:off x="457200" y="2103120"/>
            <a:ext cx="3977640" cy="393192"/>
          </a:xfrm>
          <a:prstGeom prst="rect">
            <a:avLst/>
          </a:prstGeom>
          <a:solidFill>
            <a:srgbClr val="3D2820"/>
          </a:solidFill>
          <a:ln/>
        </p:spPr>
      </p:sp>
      <p:sp>
        <p:nvSpPr>
          <p:cNvPr id="12" name="Text 8"/>
          <p:cNvSpPr/>
          <p:nvPr/>
        </p:nvSpPr>
        <p:spPr>
          <a:xfrm>
            <a:off x="640080" y="2103120"/>
            <a:ext cx="3657600" cy="393192"/>
          </a:xfrm>
          <a:prstGeom prst="rect">
            <a:avLst/>
          </a:prstGeom>
          <a:noFill/>
          <a:ln/>
        </p:spPr>
        <p:txBody>
          <a:bodyPr wrap="square" lIns="0" tIns="0" rIns="0" bIns="0" rtlCol="0" anchor="ctr"/>
          <a:lstStyle/>
          <a:p>
            <a:pPr indent="0" marL="0">
              <a:buNone/>
            </a:pPr>
            <a:r>
              <a:rPr lang="en-US" sz="1000" dirty="0">
                <a:solidFill>
                  <a:srgbClr val="E7E0D1"/>
                </a:solidFill>
                <a:latin typeface="Calibri" pitchFamily="34" charset="0"/>
                <a:ea typeface="Calibri" pitchFamily="34" charset="-122"/>
                <a:cs typeface="Calibri" pitchFamily="34" charset="-120"/>
              </a:rPr>
              <a:t>Post éphémère, supprimable</a:t>
            </a:r>
            <a:endParaRPr lang="en-US" sz="1000" dirty="0"/>
          </a:p>
        </p:txBody>
      </p:sp>
      <p:sp>
        <p:nvSpPr>
          <p:cNvPr id="13" name="Shape 9"/>
          <p:cNvSpPr/>
          <p:nvPr/>
        </p:nvSpPr>
        <p:spPr>
          <a:xfrm>
            <a:off x="4709160" y="2103120"/>
            <a:ext cx="3977640" cy="393192"/>
          </a:xfrm>
          <a:prstGeom prst="rect">
            <a:avLst/>
          </a:prstGeom>
          <a:solidFill>
            <a:srgbClr val="3D2820"/>
          </a:solidFill>
          <a:ln/>
        </p:spPr>
      </p:sp>
      <p:sp>
        <p:nvSpPr>
          <p:cNvPr id="14" name="Text 10"/>
          <p:cNvSpPr/>
          <p:nvPr/>
        </p:nvSpPr>
        <p:spPr>
          <a:xfrm>
            <a:off x="4892040" y="2103120"/>
            <a:ext cx="3657600" cy="39319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Article académique indexé et pérenne</a:t>
            </a:r>
            <a:endParaRPr lang="en-US" sz="1000" dirty="0"/>
          </a:p>
        </p:txBody>
      </p:sp>
      <p:sp>
        <p:nvSpPr>
          <p:cNvPr id="15" name="Shape 11"/>
          <p:cNvSpPr/>
          <p:nvPr/>
        </p:nvSpPr>
        <p:spPr>
          <a:xfrm>
            <a:off x="457200" y="2532888"/>
            <a:ext cx="3977640" cy="393192"/>
          </a:xfrm>
          <a:prstGeom prst="rect">
            <a:avLst/>
          </a:prstGeom>
          <a:solidFill>
            <a:srgbClr val="4A3228"/>
          </a:solidFill>
          <a:ln/>
        </p:spPr>
      </p:sp>
      <p:sp>
        <p:nvSpPr>
          <p:cNvPr id="16" name="Text 12"/>
          <p:cNvSpPr/>
          <p:nvPr/>
        </p:nvSpPr>
        <p:spPr>
          <a:xfrm>
            <a:off x="640080" y="2532888"/>
            <a:ext cx="3657600" cy="393192"/>
          </a:xfrm>
          <a:prstGeom prst="rect">
            <a:avLst/>
          </a:prstGeom>
          <a:noFill/>
          <a:ln/>
        </p:spPr>
        <p:txBody>
          <a:bodyPr wrap="square" lIns="0" tIns="0" rIns="0" bIns="0" rtlCol="0" anchor="ctr"/>
          <a:lstStyle/>
          <a:p>
            <a:pPr indent="0" marL="0">
              <a:buNone/>
            </a:pPr>
            <a:r>
              <a:rPr lang="en-US" sz="1000" dirty="0">
                <a:solidFill>
                  <a:srgbClr val="E7E0D1"/>
                </a:solidFill>
                <a:latin typeface="Calibri" pitchFamily="34" charset="0"/>
                <a:ea typeface="Calibri" pitchFamily="34" charset="-122"/>
                <a:cs typeface="Calibri" pitchFamily="34" charset="-120"/>
              </a:rPr>
              <a:t>Aucune vérification des faits</a:t>
            </a:r>
            <a:endParaRPr lang="en-US" sz="1000" dirty="0"/>
          </a:p>
        </p:txBody>
      </p:sp>
      <p:sp>
        <p:nvSpPr>
          <p:cNvPr id="17" name="Shape 13"/>
          <p:cNvSpPr/>
          <p:nvPr/>
        </p:nvSpPr>
        <p:spPr>
          <a:xfrm>
            <a:off x="4709160" y="2532888"/>
            <a:ext cx="3977640" cy="393192"/>
          </a:xfrm>
          <a:prstGeom prst="rect">
            <a:avLst/>
          </a:prstGeom>
          <a:solidFill>
            <a:srgbClr val="4A3228"/>
          </a:solidFill>
          <a:ln/>
        </p:spPr>
      </p:sp>
      <p:sp>
        <p:nvSpPr>
          <p:cNvPr id="18" name="Text 14"/>
          <p:cNvSpPr/>
          <p:nvPr/>
        </p:nvSpPr>
        <p:spPr>
          <a:xfrm>
            <a:off x="4892040" y="2532888"/>
            <a:ext cx="3657600" cy="39319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Relecture par des pairs (peer review)</a:t>
            </a:r>
            <a:endParaRPr lang="en-US" sz="1000" dirty="0"/>
          </a:p>
        </p:txBody>
      </p:sp>
      <p:sp>
        <p:nvSpPr>
          <p:cNvPr id="19" name="Shape 15"/>
          <p:cNvSpPr/>
          <p:nvPr/>
        </p:nvSpPr>
        <p:spPr>
          <a:xfrm>
            <a:off x="457200" y="2962656"/>
            <a:ext cx="3977640" cy="393192"/>
          </a:xfrm>
          <a:prstGeom prst="rect">
            <a:avLst/>
          </a:prstGeom>
          <a:solidFill>
            <a:srgbClr val="3D2820"/>
          </a:solidFill>
          <a:ln/>
        </p:spPr>
      </p:sp>
      <p:sp>
        <p:nvSpPr>
          <p:cNvPr id="20" name="Text 16"/>
          <p:cNvSpPr/>
          <p:nvPr/>
        </p:nvSpPr>
        <p:spPr>
          <a:xfrm>
            <a:off x="640080" y="2962656"/>
            <a:ext cx="3657600" cy="393192"/>
          </a:xfrm>
          <a:prstGeom prst="rect">
            <a:avLst/>
          </a:prstGeom>
          <a:noFill/>
          <a:ln/>
        </p:spPr>
        <p:txBody>
          <a:bodyPr wrap="square" lIns="0" tIns="0" rIns="0" bIns="0" rtlCol="0" anchor="ctr"/>
          <a:lstStyle/>
          <a:p>
            <a:pPr indent="0" marL="0">
              <a:buNone/>
            </a:pPr>
            <a:r>
              <a:rPr lang="en-US" sz="1000" dirty="0">
                <a:solidFill>
                  <a:srgbClr val="E7E0D1"/>
                </a:solidFill>
                <a:latin typeface="Calibri" pitchFamily="34" charset="0"/>
                <a:ea typeface="Calibri" pitchFamily="34" charset="-122"/>
                <a:cs typeface="Calibri" pitchFamily="34" charset="-120"/>
              </a:rPr>
              <a:t>Algorithme décide de la visibilité</a:t>
            </a:r>
            <a:endParaRPr lang="en-US" sz="1000" dirty="0"/>
          </a:p>
        </p:txBody>
      </p:sp>
      <p:sp>
        <p:nvSpPr>
          <p:cNvPr id="21" name="Shape 17"/>
          <p:cNvSpPr/>
          <p:nvPr/>
        </p:nvSpPr>
        <p:spPr>
          <a:xfrm>
            <a:off x="4709160" y="2962656"/>
            <a:ext cx="3977640" cy="393192"/>
          </a:xfrm>
          <a:prstGeom prst="rect">
            <a:avLst/>
          </a:prstGeom>
          <a:solidFill>
            <a:srgbClr val="3D2820"/>
          </a:solidFill>
          <a:ln/>
        </p:spPr>
      </p:sp>
      <p:sp>
        <p:nvSpPr>
          <p:cNvPr id="22" name="Text 18"/>
          <p:cNvSpPr/>
          <p:nvPr/>
        </p:nvSpPr>
        <p:spPr>
          <a:xfrm>
            <a:off x="4892040" y="2962656"/>
            <a:ext cx="3657600" cy="39319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Accessible via Google Scholar, Cairn, JSTOR</a:t>
            </a:r>
            <a:endParaRPr lang="en-US" sz="1000" dirty="0"/>
          </a:p>
        </p:txBody>
      </p:sp>
      <p:sp>
        <p:nvSpPr>
          <p:cNvPr id="23" name="Shape 19"/>
          <p:cNvSpPr/>
          <p:nvPr/>
        </p:nvSpPr>
        <p:spPr>
          <a:xfrm>
            <a:off x="457200" y="3392424"/>
            <a:ext cx="3977640" cy="393192"/>
          </a:xfrm>
          <a:prstGeom prst="rect">
            <a:avLst/>
          </a:prstGeom>
          <a:solidFill>
            <a:srgbClr val="4A3228"/>
          </a:solidFill>
          <a:ln/>
        </p:spPr>
      </p:sp>
      <p:sp>
        <p:nvSpPr>
          <p:cNvPr id="24" name="Text 20"/>
          <p:cNvSpPr/>
          <p:nvPr/>
        </p:nvSpPr>
        <p:spPr>
          <a:xfrm>
            <a:off x="640080" y="3392424"/>
            <a:ext cx="3657600" cy="393192"/>
          </a:xfrm>
          <a:prstGeom prst="rect">
            <a:avLst/>
          </a:prstGeom>
          <a:noFill/>
          <a:ln/>
        </p:spPr>
        <p:txBody>
          <a:bodyPr wrap="square" lIns="0" tIns="0" rIns="0" bIns="0" rtlCol="0" anchor="ctr"/>
          <a:lstStyle/>
          <a:p>
            <a:pPr indent="0" marL="0">
              <a:buNone/>
            </a:pPr>
            <a:r>
              <a:rPr lang="en-US" sz="1000" dirty="0">
                <a:solidFill>
                  <a:srgbClr val="E7E0D1"/>
                </a:solidFill>
                <a:latin typeface="Calibri" pitchFamily="34" charset="0"/>
                <a:ea typeface="Calibri" pitchFamily="34" charset="-122"/>
                <a:cs typeface="Calibri" pitchFamily="34" charset="-120"/>
              </a:rPr>
              <a:t>Contenu superficiel et fragmenté</a:t>
            </a:r>
            <a:endParaRPr lang="en-US" sz="1000" dirty="0"/>
          </a:p>
        </p:txBody>
      </p:sp>
      <p:sp>
        <p:nvSpPr>
          <p:cNvPr id="25" name="Shape 21"/>
          <p:cNvSpPr/>
          <p:nvPr/>
        </p:nvSpPr>
        <p:spPr>
          <a:xfrm>
            <a:off x="4709160" y="3392424"/>
            <a:ext cx="3977640" cy="393192"/>
          </a:xfrm>
          <a:prstGeom prst="rect">
            <a:avLst/>
          </a:prstGeom>
          <a:solidFill>
            <a:srgbClr val="4A3228"/>
          </a:solidFill>
          <a:ln/>
        </p:spPr>
      </p:sp>
      <p:sp>
        <p:nvSpPr>
          <p:cNvPr id="26" name="Text 22"/>
          <p:cNvSpPr/>
          <p:nvPr/>
        </p:nvSpPr>
        <p:spPr>
          <a:xfrm>
            <a:off x="4892040" y="3392424"/>
            <a:ext cx="3657600" cy="39319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Études approfondies et structurées</a:t>
            </a:r>
            <a:endParaRPr lang="en-US" sz="1000" dirty="0"/>
          </a:p>
        </p:txBody>
      </p:sp>
      <p:sp>
        <p:nvSpPr>
          <p:cNvPr id="27" name="Shape 23"/>
          <p:cNvSpPr/>
          <p:nvPr/>
        </p:nvSpPr>
        <p:spPr>
          <a:xfrm>
            <a:off x="457200" y="3822192"/>
            <a:ext cx="3977640" cy="393192"/>
          </a:xfrm>
          <a:prstGeom prst="rect">
            <a:avLst/>
          </a:prstGeom>
          <a:solidFill>
            <a:srgbClr val="3D2820"/>
          </a:solidFill>
          <a:ln/>
        </p:spPr>
      </p:sp>
      <p:sp>
        <p:nvSpPr>
          <p:cNvPr id="28" name="Text 24"/>
          <p:cNvSpPr/>
          <p:nvPr/>
        </p:nvSpPr>
        <p:spPr>
          <a:xfrm>
            <a:off x="640080" y="3822192"/>
            <a:ext cx="3657600" cy="393192"/>
          </a:xfrm>
          <a:prstGeom prst="rect">
            <a:avLst/>
          </a:prstGeom>
          <a:noFill/>
          <a:ln/>
        </p:spPr>
        <p:txBody>
          <a:bodyPr wrap="square" lIns="0" tIns="0" rIns="0" bIns="0" rtlCol="0" anchor="ctr"/>
          <a:lstStyle/>
          <a:p>
            <a:pPr indent="0" marL="0">
              <a:buNone/>
            </a:pPr>
            <a:r>
              <a:rPr lang="en-US" sz="1000" dirty="0">
                <a:solidFill>
                  <a:srgbClr val="E7E0D1"/>
                </a:solidFill>
                <a:latin typeface="Calibri" pitchFamily="34" charset="0"/>
                <a:ea typeface="Calibri" pitchFamily="34" charset="-122"/>
                <a:cs typeface="Calibri" pitchFamily="34" charset="-120"/>
              </a:rPr>
              <a:t>Folklore réduit au buzz</a:t>
            </a:r>
            <a:endParaRPr lang="en-US" sz="1000" dirty="0"/>
          </a:p>
        </p:txBody>
      </p:sp>
      <p:sp>
        <p:nvSpPr>
          <p:cNvPr id="29" name="Shape 25"/>
          <p:cNvSpPr/>
          <p:nvPr/>
        </p:nvSpPr>
        <p:spPr>
          <a:xfrm>
            <a:off x="4709160" y="3822192"/>
            <a:ext cx="3977640" cy="393192"/>
          </a:xfrm>
          <a:prstGeom prst="rect">
            <a:avLst/>
          </a:prstGeom>
          <a:solidFill>
            <a:srgbClr val="3D2820"/>
          </a:solidFill>
          <a:ln/>
        </p:spPr>
      </p:sp>
      <p:sp>
        <p:nvSpPr>
          <p:cNvPr id="30" name="Text 26"/>
          <p:cNvSpPr/>
          <p:nvPr/>
        </p:nvSpPr>
        <p:spPr>
          <a:xfrm>
            <a:off x="4892040" y="3822192"/>
            <a:ext cx="3657600" cy="39319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Documentation ethnographique complète</a:t>
            </a:r>
            <a:endParaRPr lang="en-US" sz="1000" dirty="0"/>
          </a:p>
        </p:txBody>
      </p:sp>
      <p:sp>
        <p:nvSpPr>
          <p:cNvPr id="31" name="Shape 27"/>
          <p:cNvSpPr/>
          <p:nvPr/>
        </p:nvSpPr>
        <p:spPr>
          <a:xfrm>
            <a:off x="457200" y="4343400"/>
            <a:ext cx="8229600" cy="502920"/>
          </a:xfrm>
          <a:prstGeom prst="rect">
            <a:avLst/>
          </a:prstGeom>
          <a:solidFill>
            <a:srgbClr val="C17B3A"/>
          </a:solidFill>
          <a:ln/>
        </p:spPr>
      </p:sp>
      <p:sp>
        <p:nvSpPr>
          <p:cNvPr id="32" name="Text 28"/>
          <p:cNvSpPr/>
          <p:nvPr/>
        </p:nvSpPr>
        <p:spPr>
          <a:xfrm>
            <a:off x="640080" y="4343400"/>
            <a:ext cx="7863840" cy="502920"/>
          </a:xfrm>
          <a:prstGeom prst="rect">
            <a:avLst/>
          </a:prstGeom>
          <a:noFill/>
          <a:ln/>
        </p:spPr>
        <p:txBody>
          <a:bodyPr wrap="square" lIns="0" tIns="0" rIns="0" bIns="0" rtlCol="0" anchor="ctr"/>
          <a:lstStyle/>
          <a:p>
            <a:pPr algn="ctr" indent="0" marL="0">
              <a:buNone/>
            </a:pPr>
            <a:r>
              <a:rPr lang="en-US" sz="1200" b="1" i="1" dirty="0">
                <a:solidFill>
                  <a:srgbClr val="FFFFFF"/>
                </a:solidFill>
                <a:latin typeface="Georgia" pitchFamily="34" charset="0"/>
                <a:ea typeface="Georgia" pitchFamily="34" charset="-122"/>
                <a:cs typeface="Georgia" pitchFamily="34" charset="-120"/>
              </a:rPr>
              <a:t>Les réseaux sociaux font de la visibilité, pas de la préservation. Ce n'est pas la même chose.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457200" y="320040"/>
            <a:ext cx="1371600" cy="320040"/>
          </a:xfrm>
          <a:prstGeom prst="rect">
            <a:avLst/>
          </a:prstGeom>
          <a:solidFill>
            <a:srgbClr val="C0392B"/>
          </a:solidFill>
          <a:ln/>
        </p:spPr>
      </p:sp>
      <p:sp>
        <p:nvSpPr>
          <p:cNvPr id="3" name="Text 1"/>
          <p:cNvSpPr/>
          <p:nvPr/>
        </p:nvSpPr>
        <p:spPr>
          <a:xfrm>
            <a:off x="457200" y="320040"/>
            <a:ext cx="137160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DANGERS</a:t>
            </a:r>
            <a:endParaRPr lang="en-US" sz="1000" dirty="0"/>
          </a:p>
        </p:txBody>
      </p:sp>
      <p:sp>
        <p:nvSpPr>
          <p:cNvPr id="4" name="Text 2"/>
          <p:cNvSpPr/>
          <p:nvPr/>
        </p:nvSpPr>
        <p:spPr>
          <a:xfrm>
            <a:off x="457200" y="822960"/>
            <a:ext cx="8229600" cy="548640"/>
          </a:xfrm>
          <a:prstGeom prst="rect">
            <a:avLst/>
          </a:prstGeom>
          <a:noFill/>
          <a:ln/>
        </p:spPr>
        <p:txBody>
          <a:bodyPr wrap="square" lIns="0" tIns="0" rIns="0" bIns="0" rtlCol="0" anchor="ctr"/>
          <a:lstStyle/>
          <a:p>
            <a:pPr indent="0" marL="0">
              <a:buNone/>
            </a:pPr>
            <a:r>
              <a:rPr lang="en-US" sz="2600" b="1" dirty="0">
                <a:solidFill>
                  <a:srgbClr val="2D1810"/>
                </a:solidFill>
                <a:latin typeface="Georgia" pitchFamily="34" charset="0"/>
                <a:ea typeface="Georgia" pitchFamily="34" charset="-122"/>
                <a:cs typeface="Georgia" pitchFamily="34" charset="-120"/>
              </a:rPr>
              <a:t>Ce que les réseaux sociaux font à la culture</a:t>
            </a:r>
            <a:endParaRPr lang="en-US" sz="2600" dirty="0"/>
          </a:p>
        </p:txBody>
      </p:sp>
      <p:sp>
        <p:nvSpPr>
          <p:cNvPr id="5" name="Shape 3"/>
          <p:cNvSpPr/>
          <p:nvPr/>
        </p:nvSpPr>
        <p:spPr>
          <a:xfrm>
            <a:off x="457200" y="1554480"/>
            <a:ext cx="402336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554480"/>
            <a:ext cx="4023360" cy="54864"/>
          </a:xfrm>
          <a:prstGeom prst="rect">
            <a:avLst/>
          </a:prstGeom>
          <a:solidFill>
            <a:srgbClr val="C0392B"/>
          </a:solidFill>
          <a:ln/>
        </p:spPr>
      </p:sp>
      <p:pic>
        <p:nvPicPr>
          <p:cNvPr id="7" name="Image 0" descr="preencoded.png">    </p:cNvPr>
          <p:cNvPicPr>
            <a:picLocks noChangeAspect="1"/>
          </p:cNvPicPr>
          <p:nvPr/>
        </p:nvPicPr>
        <p:blipFill>
          <a:blip r:embed="rId1"/>
          <a:stretch>
            <a:fillRect/>
          </a:stretch>
        </p:blipFill>
        <p:spPr>
          <a:xfrm>
            <a:off x="640080" y="1783080"/>
            <a:ext cx="365760" cy="365760"/>
          </a:xfrm>
          <a:prstGeom prst="rect">
            <a:avLst/>
          </a:prstGeom>
        </p:spPr>
      </p:pic>
      <p:sp>
        <p:nvSpPr>
          <p:cNvPr id="8" name="Text 5"/>
          <p:cNvSpPr/>
          <p:nvPr/>
        </p:nvSpPr>
        <p:spPr>
          <a:xfrm>
            <a:off x="1143000" y="1737360"/>
            <a:ext cx="3108960" cy="320040"/>
          </a:xfrm>
          <a:prstGeom prst="rect">
            <a:avLst/>
          </a:prstGeom>
          <a:noFill/>
          <a:ln/>
        </p:spPr>
        <p:txBody>
          <a:bodyPr wrap="square" lIns="0" tIns="0" rIns="0" bIns="0" rtlCol="0" anchor="ctr"/>
          <a:lstStyle/>
          <a:p>
            <a:pPr indent="0" marL="0">
              <a:buNone/>
            </a:pPr>
            <a:r>
              <a:rPr lang="en-US" sz="1300" b="1" dirty="0">
                <a:solidFill>
                  <a:srgbClr val="C0392B"/>
                </a:solidFill>
                <a:latin typeface="Georgia" pitchFamily="34" charset="0"/>
                <a:ea typeface="Georgia" pitchFamily="34" charset="-122"/>
                <a:cs typeface="Georgia" pitchFamily="34" charset="-120"/>
              </a:rPr>
              <a:t>Déformation de la culture</a:t>
            </a:r>
            <a:endParaRPr lang="en-US" sz="1300" dirty="0"/>
          </a:p>
        </p:txBody>
      </p:sp>
      <p:sp>
        <p:nvSpPr>
          <p:cNvPr id="9" name="Text 6"/>
          <p:cNvSpPr/>
          <p:nvPr/>
        </p:nvSpPr>
        <p:spPr>
          <a:xfrm>
            <a:off x="640080" y="2148840"/>
            <a:ext cx="3657600" cy="640080"/>
          </a:xfrm>
          <a:prstGeom prst="rect">
            <a:avLst/>
          </a:prstGeom>
          <a:noFill/>
          <a:ln/>
        </p:spPr>
        <p:txBody>
          <a:bodyPr wrap="square" lIns="0" tIns="0" rIns="0" bIns="0" rtlCol="0" anchor="ctr"/>
          <a:lstStyle/>
          <a:p>
            <a:pPr indent="0" marL="0">
              <a:lnSpc>
                <a:spcPct val="140000"/>
              </a:lnSpc>
              <a:buNone/>
            </a:pPr>
            <a:r>
              <a:rPr lang="en-US" sz="950" dirty="0">
                <a:solidFill>
                  <a:srgbClr val="7A6558"/>
                </a:solidFill>
                <a:latin typeface="Calibri" pitchFamily="34" charset="0"/>
                <a:ea typeface="Calibri" pitchFamily="34" charset="-122"/>
                <a:cs typeface="Calibri" pitchFamily="34" charset="-120"/>
              </a:rPr>
              <a:t>Pour faire des vues, le contenu est simplifié, décontextualisé, parfois inventé. La Rahaba devient un « trend », les tatouages amazighs un « filtre beauté ». La profondeur culturelle est sacrifiée au profit du clic.</a:t>
            </a:r>
            <a:endParaRPr lang="en-US" sz="950" dirty="0"/>
          </a:p>
        </p:txBody>
      </p:sp>
      <p:sp>
        <p:nvSpPr>
          <p:cNvPr id="10" name="Shape 7"/>
          <p:cNvSpPr/>
          <p:nvPr/>
        </p:nvSpPr>
        <p:spPr>
          <a:xfrm>
            <a:off x="4663440" y="1554480"/>
            <a:ext cx="402336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4663440" y="1554480"/>
            <a:ext cx="4023360" cy="54864"/>
          </a:xfrm>
          <a:prstGeom prst="rect">
            <a:avLst/>
          </a:prstGeom>
          <a:solidFill>
            <a:srgbClr val="C0392B"/>
          </a:solidFill>
          <a:ln/>
        </p:spPr>
      </p:sp>
      <p:pic>
        <p:nvPicPr>
          <p:cNvPr id="12" name="Image 1" descr="preencoded.png">    </p:cNvPr>
          <p:cNvPicPr>
            <a:picLocks noChangeAspect="1"/>
          </p:cNvPicPr>
          <p:nvPr/>
        </p:nvPicPr>
        <p:blipFill>
          <a:blip r:embed="rId2"/>
          <a:stretch>
            <a:fillRect/>
          </a:stretch>
        </p:blipFill>
        <p:spPr>
          <a:xfrm>
            <a:off x="4846320" y="1783080"/>
            <a:ext cx="365760" cy="365760"/>
          </a:xfrm>
          <a:prstGeom prst="rect">
            <a:avLst/>
          </a:prstGeom>
        </p:spPr>
      </p:pic>
      <p:sp>
        <p:nvSpPr>
          <p:cNvPr id="13" name="Text 9"/>
          <p:cNvSpPr/>
          <p:nvPr/>
        </p:nvSpPr>
        <p:spPr>
          <a:xfrm>
            <a:off x="5349240" y="1737360"/>
            <a:ext cx="3108960" cy="320040"/>
          </a:xfrm>
          <a:prstGeom prst="rect">
            <a:avLst/>
          </a:prstGeom>
          <a:noFill/>
          <a:ln/>
        </p:spPr>
        <p:txBody>
          <a:bodyPr wrap="square" lIns="0" tIns="0" rIns="0" bIns="0" rtlCol="0" anchor="ctr"/>
          <a:lstStyle/>
          <a:p>
            <a:pPr indent="0" marL="0">
              <a:buNone/>
            </a:pPr>
            <a:r>
              <a:rPr lang="en-US" sz="1300" b="1" dirty="0">
                <a:solidFill>
                  <a:srgbClr val="C0392B"/>
                </a:solidFill>
                <a:latin typeface="Georgia" pitchFamily="34" charset="0"/>
                <a:ea typeface="Georgia" pitchFamily="34" charset="-122"/>
                <a:cs typeface="Georgia" pitchFamily="34" charset="-120"/>
              </a:rPr>
              <a:t>Fausse expertise</a:t>
            </a:r>
            <a:endParaRPr lang="en-US" sz="1300" dirty="0"/>
          </a:p>
        </p:txBody>
      </p:sp>
      <p:sp>
        <p:nvSpPr>
          <p:cNvPr id="14" name="Text 10"/>
          <p:cNvSpPr/>
          <p:nvPr/>
        </p:nvSpPr>
        <p:spPr>
          <a:xfrm>
            <a:off x="4846320" y="2148840"/>
            <a:ext cx="3657600" cy="640080"/>
          </a:xfrm>
          <a:prstGeom prst="rect">
            <a:avLst/>
          </a:prstGeom>
          <a:noFill/>
          <a:ln/>
        </p:spPr>
        <p:txBody>
          <a:bodyPr wrap="square" lIns="0" tIns="0" rIns="0" bIns="0" rtlCol="0" anchor="ctr"/>
          <a:lstStyle/>
          <a:p>
            <a:pPr indent="0" marL="0">
              <a:lnSpc>
                <a:spcPct val="140000"/>
              </a:lnSpc>
              <a:buNone/>
            </a:pPr>
            <a:r>
              <a:rPr lang="en-US" sz="950" dirty="0">
                <a:solidFill>
                  <a:srgbClr val="7A6558"/>
                </a:solidFill>
                <a:latin typeface="Calibri" pitchFamily="34" charset="0"/>
                <a:ea typeface="Calibri" pitchFamily="34" charset="-122"/>
                <a:cs typeface="Calibri" pitchFamily="34" charset="-120"/>
              </a:rPr>
              <a:t>N'importe qui peut se présenter comme « expert chaoui » sans aucune légitimité. Des informations historiques fausses circulent, mélangées avec du contenu authentique, sans que personne ne vérifie.</a:t>
            </a:r>
            <a:endParaRPr lang="en-US" sz="950" dirty="0"/>
          </a:p>
        </p:txBody>
      </p:sp>
      <p:sp>
        <p:nvSpPr>
          <p:cNvPr id="15" name="Shape 11"/>
          <p:cNvSpPr/>
          <p:nvPr/>
        </p:nvSpPr>
        <p:spPr>
          <a:xfrm>
            <a:off x="457200" y="3063240"/>
            <a:ext cx="402336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457200" y="3063240"/>
            <a:ext cx="4023360" cy="54864"/>
          </a:xfrm>
          <a:prstGeom prst="rect">
            <a:avLst/>
          </a:prstGeom>
          <a:solidFill>
            <a:srgbClr val="C0392B"/>
          </a:solidFill>
          <a:ln/>
        </p:spPr>
      </p:sp>
      <p:pic>
        <p:nvPicPr>
          <p:cNvPr id="17" name="Image 2" descr="preencoded.png">    </p:cNvPr>
          <p:cNvPicPr>
            <a:picLocks noChangeAspect="1"/>
          </p:cNvPicPr>
          <p:nvPr/>
        </p:nvPicPr>
        <p:blipFill>
          <a:blip r:embed="rId3"/>
          <a:stretch>
            <a:fillRect/>
          </a:stretch>
        </p:blipFill>
        <p:spPr>
          <a:xfrm>
            <a:off x="640080" y="3291840"/>
            <a:ext cx="365760" cy="365760"/>
          </a:xfrm>
          <a:prstGeom prst="rect">
            <a:avLst/>
          </a:prstGeom>
        </p:spPr>
      </p:pic>
      <p:sp>
        <p:nvSpPr>
          <p:cNvPr id="18" name="Text 13"/>
          <p:cNvSpPr/>
          <p:nvPr/>
        </p:nvSpPr>
        <p:spPr>
          <a:xfrm>
            <a:off x="1143000" y="3246120"/>
            <a:ext cx="3108960" cy="320040"/>
          </a:xfrm>
          <a:prstGeom prst="rect">
            <a:avLst/>
          </a:prstGeom>
          <a:noFill/>
          <a:ln/>
        </p:spPr>
        <p:txBody>
          <a:bodyPr wrap="square" lIns="0" tIns="0" rIns="0" bIns="0" rtlCol="0" anchor="ctr"/>
          <a:lstStyle/>
          <a:p>
            <a:pPr indent="0" marL="0">
              <a:buNone/>
            </a:pPr>
            <a:r>
              <a:rPr lang="en-US" sz="1300" b="1" dirty="0">
                <a:solidFill>
                  <a:srgbClr val="C0392B"/>
                </a:solidFill>
                <a:latin typeface="Georgia" pitchFamily="34" charset="0"/>
                <a:ea typeface="Georgia" pitchFamily="34" charset="-122"/>
                <a:cs typeface="Georgia" pitchFamily="34" charset="-120"/>
              </a:rPr>
              <a:t>Dépendance aux plateformes</a:t>
            </a:r>
            <a:endParaRPr lang="en-US" sz="1300" dirty="0"/>
          </a:p>
        </p:txBody>
      </p:sp>
      <p:sp>
        <p:nvSpPr>
          <p:cNvPr id="19" name="Text 14"/>
          <p:cNvSpPr/>
          <p:nvPr/>
        </p:nvSpPr>
        <p:spPr>
          <a:xfrm>
            <a:off x="640080" y="3657600"/>
            <a:ext cx="3657600" cy="640080"/>
          </a:xfrm>
          <a:prstGeom prst="rect">
            <a:avLst/>
          </a:prstGeom>
          <a:noFill/>
          <a:ln/>
        </p:spPr>
        <p:txBody>
          <a:bodyPr wrap="square" lIns="0" tIns="0" rIns="0" bIns="0" rtlCol="0" anchor="ctr"/>
          <a:lstStyle/>
          <a:p>
            <a:pPr indent="0" marL="0">
              <a:lnSpc>
                <a:spcPct val="140000"/>
              </a:lnSpc>
              <a:buNone/>
            </a:pPr>
            <a:r>
              <a:rPr lang="en-US" sz="950" dirty="0">
                <a:solidFill>
                  <a:srgbClr val="7A6558"/>
                </a:solidFill>
                <a:latin typeface="Calibri" pitchFamily="34" charset="0"/>
                <a:ea typeface="Calibri" pitchFamily="34" charset="-122"/>
                <a:cs typeface="Calibri" pitchFamily="34" charset="-120"/>
              </a:rPr>
              <a:t>Tout ce contenu appartient à Meta, TikTok ou Google. Si ces entreprises changent leurs règles, ferment un compte ou modifient l'algorithme, des années de contenu disparaissent sans recours.</a:t>
            </a:r>
            <a:endParaRPr lang="en-US" sz="950" dirty="0"/>
          </a:p>
        </p:txBody>
      </p:sp>
      <p:sp>
        <p:nvSpPr>
          <p:cNvPr id="20" name="Shape 15"/>
          <p:cNvSpPr/>
          <p:nvPr/>
        </p:nvSpPr>
        <p:spPr>
          <a:xfrm>
            <a:off x="4663440" y="3063240"/>
            <a:ext cx="402336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6"/>
          <p:cNvSpPr/>
          <p:nvPr/>
        </p:nvSpPr>
        <p:spPr>
          <a:xfrm>
            <a:off x="4663440" y="3063240"/>
            <a:ext cx="4023360" cy="54864"/>
          </a:xfrm>
          <a:prstGeom prst="rect">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4846320" y="3291840"/>
            <a:ext cx="365760" cy="365760"/>
          </a:xfrm>
          <a:prstGeom prst="rect">
            <a:avLst/>
          </a:prstGeom>
        </p:spPr>
      </p:pic>
      <p:sp>
        <p:nvSpPr>
          <p:cNvPr id="23" name="Text 17"/>
          <p:cNvSpPr/>
          <p:nvPr/>
        </p:nvSpPr>
        <p:spPr>
          <a:xfrm>
            <a:off x="5349240" y="3246120"/>
            <a:ext cx="3108960" cy="320040"/>
          </a:xfrm>
          <a:prstGeom prst="rect">
            <a:avLst/>
          </a:prstGeom>
          <a:noFill/>
          <a:ln/>
        </p:spPr>
        <p:txBody>
          <a:bodyPr wrap="square" lIns="0" tIns="0" rIns="0" bIns="0" rtlCol="0" anchor="ctr"/>
          <a:lstStyle/>
          <a:p>
            <a:pPr indent="0" marL="0">
              <a:buNone/>
            </a:pPr>
            <a:r>
              <a:rPr lang="en-US" sz="1300" b="1" dirty="0">
                <a:solidFill>
                  <a:srgbClr val="C0392B"/>
                </a:solidFill>
                <a:latin typeface="Georgia" pitchFamily="34" charset="0"/>
                <a:ea typeface="Georgia" pitchFamily="34" charset="-122"/>
                <a:cs typeface="Georgia" pitchFamily="34" charset="-120"/>
              </a:rPr>
              <a:t>Illusion d'action</a:t>
            </a:r>
            <a:endParaRPr lang="en-US" sz="1300" dirty="0"/>
          </a:p>
        </p:txBody>
      </p:sp>
      <p:sp>
        <p:nvSpPr>
          <p:cNvPr id="24" name="Text 18"/>
          <p:cNvSpPr/>
          <p:nvPr/>
        </p:nvSpPr>
        <p:spPr>
          <a:xfrm>
            <a:off x="4846320" y="3657600"/>
            <a:ext cx="3657600" cy="640080"/>
          </a:xfrm>
          <a:prstGeom prst="rect">
            <a:avLst/>
          </a:prstGeom>
          <a:noFill/>
          <a:ln/>
        </p:spPr>
        <p:txBody>
          <a:bodyPr wrap="square" lIns="0" tIns="0" rIns="0" bIns="0" rtlCol="0" anchor="ctr"/>
          <a:lstStyle/>
          <a:p>
            <a:pPr indent="0" marL="0">
              <a:lnSpc>
                <a:spcPct val="140000"/>
              </a:lnSpc>
              <a:buNone/>
            </a:pPr>
            <a:r>
              <a:rPr lang="en-US" sz="950" dirty="0">
                <a:solidFill>
                  <a:srgbClr val="7A6558"/>
                </a:solidFill>
                <a:latin typeface="Calibri" pitchFamily="34" charset="0"/>
                <a:ea typeface="Calibri" pitchFamily="34" charset="-122"/>
                <a:cs typeface="Calibri" pitchFamily="34" charset="-120"/>
              </a:rPr>
              <a:t>Partager une vidéo donne l'impression d'agir pour la culture. Mais liker, commenter et partager ne remplace ni la recherche, ni l'archivage, ni l'enseignement, ni la transmission réelle de personne à personne.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457200" y="320040"/>
            <a:ext cx="1645920" cy="320040"/>
          </a:xfrm>
          <a:prstGeom prst="rect">
            <a:avLst/>
          </a:prstGeom>
          <a:solidFill>
            <a:srgbClr val="6B7B4F"/>
          </a:solidFill>
          <a:ln/>
        </p:spPr>
      </p:sp>
      <p:sp>
        <p:nvSpPr>
          <p:cNvPr id="3" name="Text 1"/>
          <p:cNvSpPr/>
          <p:nvPr/>
        </p:nvSpPr>
        <p:spPr>
          <a:xfrm>
            <a:off x="457200" y="320040"/>
            <a:ext cx="1645920" cy="32004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AXE 1 — SOLUTION</a:t>
            </a:r>
            <a:endParaRPr lang="en-US" sz="1000" dirty="0"/>
          </a:p>
        </p:txBody>
      </p:sp>
      <p:sp>
        <p:nvSpPr>
          <p:cNvPr id="4" name="Text 2"/>
          <p:cNvSpPr/>
          <p:nvPr/>
        </p:nvSpPr>
        <p:spPr>
          <a:xfrm>
            <a:off x="457200" y="822960"/>
            <a:ext cx="8229600" cy="548640"/>
          </a:xfrm>
          <a:prstGeom prst="rect">
            <a:avLst/>
          </a:prstGeom>
          <a:noFill/>
          <a:ln/>
        </p:spPr>
        <p:txBody>
          <a:bodyPr wrap="square" lIns="0" tIns="0" rIns="0" bIns="0" rtlCol="0" anchor="ctr"/>
          <a:lstStyle/>
          <a:p>
            <a:pPr indent="0" marL="0">
              <a:buNone/>
            </a:pPr>
            <a:r>
              <a:rPr lang="en-US" sz="2800" b="1" dirty="0">
                <a:solidFill>
                  <a:srgbClr val="2D1810"/>
                </a:solidFill>
                <a:latin typeface="Georgia" pitchFamily="34" charset="0"/>
                <a:ea typeface="Georgia" pitchFamily="34" charset="-122"/>
                <a:cs typeface="Georgia" pitchFamily="34" charset="-120"/>
              </a:rPr>
              <a:t>Recherche Académique &amp; Publications</a:t>
            </a:r>
            <a:endParaRPr lang="en-US" sz="2800" dirty="0"/>
          </a:p>
        </p:txBody>
      </p:sp>
      <p:sp>
        <p:nvSpPr>
          <p:cNvPr id="5" name="Shape 3"/>
          <p:cNvSpPr/>
          <p:nvPr/>
        </p:nvSpPr>
        <p:spPr>
          <a:xfrm>
            <a:off x="457200" y="1554480"/>
            <a:ext cx="4206240" cy="3108960"/>
          </a:xfrm>
          <a:prstGeom prst="rect">
            <a:avLst/>
          </a:prstGeom>
          <a:solidFill>
            <a:srgbClr val="2D1810"/>
          </a:solidFill>
          <a:ln/>
        </p:spPr>
      </p:sp>
      <p:pic>
        <p:nvPicPr>
          <p:cNvPr id="6" name="Image 0" descr="preencoded.png">    </p:cNvPr>
          <p:cNvPicPr>
            <a:picLocks noChangeAspect="1"/>
          </p:cNvPicPr>
          <p:nvPr/>
        </p:nvPicPr>
        <p:blipFill>
          <a:blip r:embed="rId1"/>
          <a:stretch>
            <a:fillRect/>
          </a:stretch>
        </p:blipFill>
        <p:spPr>
          <a:xfrm>
            <a:off x="731520" y="1828800"/>
            <a:ext cx="502920" cy="502920"/>
          </a:xfrm>
          <a:prstGeom prst="rect">
            <a:avLst/>
          </a:prstGeom>
        </p:spPr>
      </p:pic>
      <p:sp>
        <p:nvSpPr>
          <p:cNvPr id="7" name="Text 4"/>
          <p:cNvSpPr/>
          <p:nvPr/>
        </p:nvSpPr>
        <p:spPr>
          <a:xfrm>
            <a:off x="731520" y="2423160"/>
            <a:ext cx="3657600" cy="731520"/>
          </a:xfrm>
          <a:prstGeom prst="rect">
            <a:avLst/>
          </a:prstGeom>
          <a:noFill/>
          <a:ln/>
        </p:spPr>
        <p:txBody>
          <a:bodyPr wrap="square" lIns="0" tIns="0" rIns="0" bIns="0" rtlCol="0" anchor="ctr"/>
          <a:lstStyle/>
          <a:p>
            <a:pPr indent="0" marL="0">
              <a:lnSpc>
                <a:spcPct val="120000"/>
              </a:lnSpc>
              <a:buNone/>
            </a:pPr>
            <a:r>
              <a:rPr lang="en-US" sz="2000" b="1" dirty="0">
                <a:solidFill>
                  <a:srgbClr val="FFFFFF"/>
                </a:solidFill>
                <a:latin typeface="Georgia" pitchFamily="34" charset="0"/>
                <a:ea typeface="Georgia" pitchFamily="34" charset="-122"/>
                <a:cs typeface="Georgia" pitchFamily="34" charset="-120"/>
              </a:rPr>
              <a:t>La vraie référence</a:t>
            </a:r>
            <a:endParaRPr lang="en-US" sz="2000" dirty="0"/>
          </a:p>
          <a:p>
            <a:pPr indent="0" marL="0">
              <a:lnSpc>
                <a:spcPct val="120000"/>
              </a:lnSpc>
              <a:buNone/>
            </a:pPr>
            <a:r>
              <a:rPr lang="en-US" sz="2000" b="1" dirty="0">
                <a:solidFill>
                  <a:srgbClr val="FFFFFF"/>
                </a:solidFill>
                <a:latin typeface="Georgia" pitchFamily="34" charset="0"/>
                <a:ea typeface="Georgia" pitchFamily="34" charset="-122"/>
                <a:cs typeface="Georgia" pitchFamily="34" charset="-120"/>
              </a:rPr>
              <a:t>commence ici</a:t>
            </a:r>
            <a:endParaRPr lang="en-US" sz="2000" dirty="0"/>
          </a:p>
        </p:txBody>
      </p:sp>
      <p:sp>
        <p:nvSpPr>
          <p:cNvPr id="8" name="Text 5"/>
          <p:cNvSpPr/>
          <p:nvPr/>
        </p:nvSpPr>
        <p:spPr>
          <a:xfrm>
            <a:off x="731520" y="3246120"/>
            <a:ext cx="3657600" cy="1097280"/>
          </a:xfrm>
          <a:prstGeom prst="rect">
            <a:avLst/>
          </a:prstGeom>
          <a:noFill/>
          <a:ln/>
        </p:spPr>
        <p:txBody>
          <a:bodyPr wrap="square" lIns="0" tIns="0" rIns="0" bIns="0" rtlCol="0" anchor="ctr"/>
          <a:lstStyle/>
          <a:p>
            <a:pPr indent="0" marL="0">
              <a:lnSpc>
                <a:spcPct val="150000"/>
              </a:lnSpc>
              <a:buNone/>
            </a:pPr>
            <a:r>
              <a:rPr lang="en-US" sz="1200" dirty="0">
                <a:solidFill>
                  <a:srgbClr val="E7E0D1"/>
                </a:solidFill>
                <a:latin typeface="Calibri" pitchFamily="34" charset="0"/>
                <a:ea typeface="Calibri" pitchFamily="34" charset="-122"/>
                <a:cs typeface="Calibri" pitchFamily="34" charset="-120"/>
              </a:rPr>
              <a:t>Un article publié dans une revue scientifique indexée a plus de valeur pour la préservation culturelle que 10 000 vidéos TikTok. Il est vérifiable, citable, permanent et consultable par les générations futures.</a:t>
            </a:r>
            <a:endParaRPr lang="en-US" sz="1200" dirty="0"/>
          </a:p>
        </p:txBody>
      </p:sp>
      <p:sp>
        <p:nvSpPr>
          <p:cNvPr id="9" name="Shape 6"/>
          <p:cNvSpPr/>
          <p:nvPr/>
        </p:nvSpPr>
        <p:spPr>
          <a:xfrm>
            <a:off x="4937760" y="1554480"/>
            <a:ext cx="3749040" cy="9144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5166360" y="1783080"/>
            <a:ext cx="411480" cy="411480"/>
          </a:xfrm>
          <a:prstGeom prst="rect">
            <a:avLst/>
          </a:prstGeom>
        </p:spPr>
      </p:pic>
      <p:sp>
        <p:nvSpPr>
          <p:cNvPr id="11" name="Text 7"/>
          <p:cNvSpPr/>
          <p:nvPr/>
        </p:nvSpPr>
        <p:spPr>
          <a:xfrm>
            <a:off x="5760720" y="1627632"/>
            <a:ext cx="2743200" cy="274320"/>
          </a:xfrm>
          <a:prstGeom prst="rect">
            <a:avLst/>
          </a:prstGeom>
          <a:noFill/>
          <a:ln/>
        </p:spPr>
        <p:txBody>
          <a:bodyPr wrap="square" lIns="0" tIns="0" rIns="0" bIns="0" rtlCol="0" anchor="ctr"/>
          <a:lstStyle/>
          <a:p>
            <a:pPr indent="0" marL="0">
              <a:buNone/>
            </a:pPr>
            <a:r>
              <a:rPr lang="en-US" sz="1300" b="1" dirty="0">
                <a:solidFill>
                  <a:srgbClr val="2D1810"/>
                </a:solidFill>
                <a:latin typeface="Georgia" pitchFamily="34" charset="0"/>
                <a:ea typeface="Georgia" pitchFamily="34" charset="-122"/>
                <a:cs typeface="Georgia" pitchFamily="34" charset="-120"/>
              </a:rPr>
              <a:t>Publications scientifiques</a:t>
            </a:r>
            <a:endParaRPr lang="en-US" sz="1300" dirty="0"/>
          </a:p>
        </p:txBody>
      </p:sp>
      <p:sp>
        <p:nvSpPr>
          <p:cNvPr id="12" name="Text 8"/>
          <p:cNvSpPr/>
          <p:nvPr/>
        </p:nvSpPr>
        <p:spPr>
          <a:xfrm>
            <a:off x="5760720" y="1938528"/>
            <a:ext cx="2743200" cy="457200"/>
          </a:xfrm>
          <a:prstGeom prst="rect">
            <a:avLst/>
          </a:prstGeom>
          <a:noFill/>
          <a:ln/>
        </p:spPr>
        <p:txBody>
          <a:bodyPr wrap="square" lIns="0" tIns="0" rIns="0" bIns="0" rtlCol="0" anchor="ctr"/>
          <a:lstStyle/>
          <a:p>
            <a:pPr indent="0" marL="0">
              <a:lnSpc>
                <a:spcPct val="135000"/>
              </a:lnSpc>
              <a:buNone/>
            </a:pPr>
            <a:r>
              <a:rPr lang="en-US" sz="1000" dirty="0">
                <a:solidFill>
                  <a:srgbClr val="7A6558"/>
                </a:solidFill>
                <a:latin typeface="Calibri" pitchFamily="34" charset="0"/>
                <a:ea typeface="Calibri" pitchFamily="34" charset="-122"/>
                <a:cs typeface="Calibri" pitchFamily="34" charset="-120"/>
              </a:rPr>
              <a:t>Thèses, articles et livres en linguistique, ethnologie et histoire chaoui dans des revues indexées (Cairn, JSTOR, Google Scholar).</a:t>
            </a:r>
            <a:endParaRPr lang="en-US" sz="1000" dirty="0"/>
          </a:p>
        </p:txBody>
      </p:sp>
      <p:sp>
        <p:nvSpPr>
          <p:cNvPr id="13" name="Shape 9"/>
          <p:cNvSpPr/>
          <p:nvPr/>
        </p:nvSpPr>
        <p:spPr>
          <a:xfrm>
            <a:off x="4937760" y="2606040"/>
            <a:ext cx="3749040" cy="9144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4" name="Image 2" descr="preencoded.png">    </p:cNvPr>
          <p:cNvPicPr>
            <a:picLocks noChangeAspect="1"/>
          </p:cNvPicPr>
          <p:nvPr/>
        </p:nvPicPr>
        <p:blipFill>
          <a:blip r:embed="rId3"/>
          <a:stretch>
            <a:fillRect/>
          </a:stretch>
        </p:blipFill>
        <p:spPr>
          <a:xfrm>
            <a:off x="5166360" y="2834640"/>
            <a:ext cx="411480" cy="411480"/>
          </a:xfrm>
          <a:prstGeom prst="rect">
            <a:avLst/>
          </a:prstGeom>
        </p:spPr>
      </p:pic>
      <p:sp>
        <p:nvSpPr>
          <p:cNvPr id="15" name="Text 10"/>
          <p:cNvSpPr/>
          <p:nvPr/>
        </p:nvSpPr>
        <p:spPr>
          <a:xfrm>
            <a:off x="5760720" y="2679192"/>
            <a:ext cx="2743200" cy="274320"/>
          </a:xfrm>
          <a:prstGeom prst="rect">
            <a:avLst/>
          </a:prstGeom>
          <a:noFill/>
          <a:ln/>
        </p:spPr>
        <p:txBody>
          <a:bodyPr wrap="square" lIns="0" tIns="0" rIns="0" bIns="0" rtlCol="0" anchor="ctr"/>
          <a:lstStyle/>
          <a:p>
            <a:pPr indent="0" marL="0">
              <a:buNone/>
            </a:pPr>
            <a:r>
              <a:rPr lang="en-US" sz="1300" b="1" dirty="0">
                <a:solidFill>
                  <a:srgbClr val="2D1810"/>
                </a:solidFill>
                <a:latin typeface="Georgia" pitchFamily="34" charset="0"/>
                <a:ea typeface="Georgia" pitchFamily="34" charset="-122"/>
                <a:cs typeface="Georgia" pitchFamily="34" charset="-120"/>
              </a:rPr>
              <a:t>Centres de recherche</a:t>
            </a:r>
            <a:endParaRPr lang="en-US" sz="1300" dirty="0"/>
          </a:p>
        </p:txBody>
      </p:sp>
      <p:sp>
        <p:nvSpPr>
          <p:cNvPr id="16" name="Text 11"/>
          <p:cNvSpPr/>
          <p:nvPr/>
        </p:nvSpPr>
        <p:spPr>
          <a:xfrm>
            <a:off x="5760720" y="2990088"/>
            <a:ext cx="2743200" cy="457200"/>
          </a:xfrm>
          <a:prstGeom prst="rect">
            <a:avLst/>
          </a:prstGeom>
          <a:noFill/>
          <a:ln/>
        </p:spPr>
        <p:txBody>
          <a:bodyPr wrap="square" lIns="0" tIns="0" rIns="0" bIns="0" rtlCol="0" anchor="ctr"/>
          <a:lstStyle/>
          <a:p>
            <a:pPr indent="0" marL="0">
              <a:lnSpc>
                <a:spcPct val="135000"/>
              </a:lnSpc>
              <a:buNone/>
            </a:pPr>
            <a:r>
              <a:rPr lang="en-US" sz="1000" dirty="0">
                <a:solidFill>
                  <a:srgbClr val="7A6558"/>
                </a:solidFill>
                <a:latin typeface="Calibri" pitchFamily="34" charset="0"/>
                <a:ea typeface="Calibri" pitchFamily="34" charset="-122"/>
                <a:cs typeface="Calibri" pitchFamily="34" charset="-120"/>
              </a:rPr>
              <a:t>Renforcer le rôle du CNPLET et des universités de Batna, Constantine et Béjaïa dans l'étude de la langue et de la culture.</a:t>
            </a:r>
            <a:endParaRPr lang="en-US" sz="1000" dirty="0"/>
          </a:p>
        </p:txBody>
      </p:sp>
      <p:sp>
        <p:nvSpPr>
          <p:cNvPr id="17" name="Shape 12"/>
          <p:cNvSpPr/>
          <p:nvPr/>
        </p:nvSpPr>
        <p:spPr>
          <a:xfrm>
            <a:off x="4937760" y="3657600"/>
            <a:ext cx="3749040" cy="9144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8" name="Image 3" descr="preencoded.png">    </p:cNvPr>
          <p:cNvPicPr>
            <a:picLocks noChangeAspect="1"/>
          </p:cNvPicPr>
          <p:nvPr/>
        </p:nvPicPr>
        <p:blipFill>
          <a:blip r:embed="rId4"/>
          <a:stretch>
            <a:fillRect/>
          </a:stretch>
        </p:blipFill>
        <p:spPr>
          <a:xfrm>
            <a:off x="5166360" y="3886200"/>
            <a:ext cx="411480" cy="411480"/>
          </a:xfrm>
          <a:prstGeom prst="rect">
            <a:avLst/>
          </a:prstGeom>
        </p:spPr>
      </p:pic>
      <p:sp>
        <p:nvSpPr>
          <p:cNvPr id="19" name="Text 13"/>
          <p:cNvSpPr/>
          <p:nvPr/>
        </p:nvSpPr>
        <p:spPr>
          <a:xfrm>
            <a:off x="5760720" y="3730752"/>
            <a:ext cx="2743200" cy="274320"/>
          </a:xfrm>
          <a:prstGeom prst="rect">
            <a:avLst/>
          </a:prstGeom>
          <a:noFill/>
          <a:ln/>
        </p:spPr>
        <p:txBody>
          <a:bodyPr wrap="square" lIns="0" tIns="0" rIns="0" bIns="0" rtlCol="0" anchor="ctr"/>
          <a:lstStyle/>
          <a:p>
            <a:pPr indent="0" marL="0">
              <a:buNone/>
            </a:pPr>
            <a:r>
              <a:rPr lang="en-US" sz="1300" b="1" dirty="0">
                <a:solidFill>
                  <a:srgbClr val="2D1810"/>
                </a:solidFill>
                <a:latin typeface="Georgia" pitchFamily="34" charset="0"/>
                <a:ea typeface="Georgia" pitchFamily="34" charset="-122"/>
                <a:cs typeface="Georgia" pitchFamily="34" charset="-120"/>
              </a:rPr>
              <a:t>Colloques &amp; conférences</a:t>
            </a:r>
            <a:endParaRPr lang="en-US" sz="1300" dirty="0"/>
          </a:p>
        </p:txBody>
      </p:sp>
      <p:sp>
        <p:nvSpPr>
          <p:cNvPr id="20" name="Text 14"/>
          <p:cNvSpPr/>
          <p:nvPr/>
        </p:nvSpPr>
        <p:spPr>
          <a:xfrm>
            <a:off x="5760720" y="4041648"/>
            <a:ext cx="2743200" cy="457200"/>
          </a:xfrm>
          <a:prstGeom prst="rect">
            <a:avLst/>
          </a:prstGeom>
          <a:noFill/>
          <a:ln/>
        </p:spPr>
        <p:txBody>
          <a:bodyPr wrap="square" lIns="0" tIns="0" rIns="0" bIns="0" rtlCol="0" anchor="ctr"/>
          <a:lstStyle/>
          <a:p>
            <a:pPr indent="0" marL="0">
              <a:lnSpc>
                <a:spcPct val="135000"/>
              </a:lnSpc>
              <a:buNone/>
            </a:pPr>
            <a:r>
              <a:rPr lang="en-US" sz="1000" dirty="0">
                <a:solidFill>
                  <a:srgbClr val="7A6558"/>
                </a:solidFill>
                <a:latin typeface="Calibri" pitchFamily="34" charset="0"/>
                <a:ea typeface="Calibri" pitchFamily="34" charset="-122"/>
                <a:cs typeface="Calibri" pitchFamily="34" charset="-120"/>
              </a:rPr>
              <a:t>Organiser des événements académiques dédiés à la culture chaoui avec publication des actes et diffusion internationale.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457200" y="320040"/>
            <a:ext cx="1645920" cy="320040"/>
          </a:xfrm>
          <a:prstGeom prst="rect">
            <a:avLst/>
          </a:prstGeom>
          <a:solidFill>
            <a:srgbClr val="6B7B4F"/>
          </a:solidFill>
          <a:ln/>
        </p:spPr>
      </p:sp>
      <p:sp>
        <p:nvSpPr>
          <p:cNvPr id="3" name="Text 1"/>
          <p:cNvSpPr/>
          <p:nvPr/>
        </p:nvSpPr>
        <p:spPr>
          <a:xfrm>
            <a:off x="457200" y="320040"/>
            <a:ext cx="1645920" cy="32004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AXE 2 — SOLUTION</a:t>
            </a:r>
            <a:endParaRPr lang="en-US" sz="1000" dirty="0"/>
          </a:p>
        </p:txBody>
      </p:sp>
      <p:sp>
        <p:nvSpPr>
          <p:cNvPr id="4" name="Text 2"/>
          <p:cNvSpPr/>
          <p:nvPr/>
        </p:nvSpPr>
        <p:spPr>
          <a:xfrm>
            <a:off x="457200" y="822960"/>
            <a:ext cx="8229600" cy="548640"/>
          </a:xfrm>
          <a:prstGeom prst="rect">
            <a:avLst/>
          </a:prstGeom>
          <a:noFill/>
          <a:ln/>
        </p:spPr>
        <p:txBody>
          <a:bodyPr wrap="square" lIns="0" tIns="0" rIns="0" bIns="0" rtlCol="0" anchor="ctr"/>
          <a:lstStyle/>
          <a:p>
            <a:pPr indent="0" marL="0">
              <a:buNone/>
            </a:pPr>
            <a:r>
              <a:rPr lang="en-US" sz="2800" b="1" dirty="0">
                <a:solidFill>
                  <a:srgbClr val="2D1810"/>
                </a:solidFill>
                <a:latin typeface="Georgia" pitchFamily="34" charset="0"/>
                <a:ea typeface="Georgia" pitchFamily="34" charset="-122"/>
                <a:cs typeface="Georgia" pitchFamily="34" charset="-120"/>
              </a:rPr>
              <a:t>Archives Institutionnelles &amp; Musées</a:t>
            </a:r>
            <a:endParaRPr lang="en-US" sz="2800" dirty="0"/>
          </a:p>
        </p:txBody>
      </p:sp>
      <p:sp>
        <p:nvSpPr>
          <p:cNvPr id="5" name="Shape 3"/>
          <p:cNvSpPr/>
          <p:nvPr/>
        </p:nvSpPr>
        <p:spPr>
          <a:xfrm>
            <a:off x="457200" y="1554480"/>
            <a:ext cx="265176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554480"/>
            <a:ext cx="2651760" cy="1371600"/>
          </a:xfrm>
          <a:prstGeom prst="rect">
            <a:avLst/>
          </a:prstGeom>
          <a:solidFill>
            <a:srgbClr val="B85042"/>
          </a:solidFill>
          <a:ln/>
        </p:spPr>
      </p:sp>
      <p:pic>
        <p:nvPicPr>
          <p:cNvPr id="7" name="Image 0" descr="preencoded.png">    </p:cNvPr>
          <p:cNvPicPr>
            <a:picLocks noChangeAspect="1"/>
          </p:cNvPicPr>
          <p:nvPr/>
        </p:nvPicPr>
        <p:blipFill>
          <a:blip r:embed="rId1"/>
          <a:stretch>
            <a:fillRect/>
          </a:stretch>
        </p:blipFill>
        <p:spPr>
          <a:xfrm>
            <a:off x="1508760" y="1737360"/>
            <a:ext cx="502920" cy="502920"/>
          </a:xfrm>
          <a:prstGeom prst="rect">
            <a:avLst/>
          </a:prstGeom>
        </p:spPr>
      </p:pic>
      <p:sp>
        <p:nvSpPr>
          <p:cNvPr id="8" name="Text 5"/>
          <p:cNvSpPr/>
          <p:nvPr/>
        </p:nvSpPr>
        <p:spPr>
          <a:xfrm>
            <a:off x="640080" y="2286000"/>
            <a:ext cx="2286000" cy="54864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Georgia" pitchFamily="34" charset="0"/>
                <a:ea typeface="Georgia" pitchFamily="34" charset="-122"/>
                <a:cs typeface="Georgia" pitchFamily="34" charset="-120"/>
              </a:rPr>
              <a:t>Archives</a:t>
            </a:r>
            <a:endParaRPr lang="en-US" sz="1400" dirty="0"/>
          </a:p>
          <a:p>
            <a:pPr algn="ctr" indent="0" marL="0">
              <a:lnSpc>
                <a:spcPct val="115000"/>
              </a:lnSpc>
              <a:buNone/>
            </a:pPr>
            <a:r>
              <a:rPr lang="en-US" sz="1400" b="1" dirty="0">
                <a:solidFill>
                  <a:srgbClr val="FFFFFF"/>
                </a:solidFill>
                <a:latin typeface="Georgia" pitchFamily="34" charset="0"/>
                <a:ea typeface="Georgia" pitchFamily="34" charset="-122"/>
                <a:cs typeface="Georgia" pitchFamily="34" charset="-120"/>
              </a:rPr>
              <a:t>Nationales</a:t>
            </a:r>
            <a:endParaRPr lang="en-US" sz="1400" dirty="0"/>
          </a:p>
        </p:txBody>
      </p:sp>
      <p:sp>
        <p:nvSpPr>
          <p:cNvPr id="9" name="Text 6"/>
          <p:cNvSpPr/>
          <p:nvPr/>
        </p:nvSpPr>
        <p:spPr>
          <a:xfrm>
            <a:off x="685800" y="3063240"/>
            <a:ext cx="2194560" cy="1417320"/>
          </a:xfrm>
          <a:prstGeom prst="rect">
            <a:avLst/>
          </a:prstGeom>
          <a:noFill/>
          <a:ln/>
        </p:spPr>
        <p:txBody>
          <a:bodyPr wrap="square" lIns="0" tIns="0" rIns="0" bIns="0" rtlCol="0" anchor="ctr"/>
          <a:lstStyle/>
          <a:p>
            <a:pPr indent="0" marL="0">
              <a:lnSpc>
                <a:spcPct val="145000"/>
              </a:lnSpc>
              <a:buNone/>
            </a:pPr>
            <a:r>
              <a:rPr lang="en-US" sz="1050" dirty="0">
                <a:solidFill>
                  <a:srgbClr val="7A6558"/>
                </a:solidFill>
                <a:latin typeface="Calibri" pitchFamily="34" charset="0"/>
                <a:ea typeface="Calibri" pitchFamily="34" charset="-122"/>
                <a:cs typeface="Calibri" pitchFamily="34" charset="-120"/>
              </a:rPr>
              <a:t>Déposer systématiquement enregistrements sonores, photos, manuscrits et documents dans les archives nationales algériennes pour garantir leur conservation permanente et légale.</a:t>
            </a:r>
            <a:endParaRPr lang="en-US" sz="1050" dirty="0"/>
          </a:p>
        </p:txBody>
      </p:sp>
      <p:sp>
        <p:nvSpPr>
          <p:cNvPr id="10" name="Shape 7"/>
          <p:cNvSpPr/>
          <p:nvPr/>
        </p:nvSpPr>
        <p:spPr>
          <a:xfrm>
            <a:off x="3337560" y="1554480"/>
            <a:ext cx="265176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3337560" y="1554480"/>
            <a:ext cx="2651760" cy="1371600"/>
          </a:xfrm>
          <a:prstGeom prst="rect">
            <a:avLst/>
          </a:prstGeom>
          <a:solidFill>
            <a:srgbClr val="C17B3A"/>
          </a:solidFill>
          <a:ln/>
        </p:spPr>
      </p:sp>
      <p:pic>
        <p:nvPicPr>
          <p:cNvPr id="12" name="Image 1" descr="preencoded.png">    </p:cNvPr>
          <p:cNvPicPr>
            <a:picLocks noChangeAspect="1"/>
          </p:cNvPicPr>
          <p:nvPr/>
        </p:nvPicPr>
        <p:blipFill>
          <a:blip r:embed="rId2"/>
          <a:stretch>
            <a:fillRect/>
          </a:stretch>
        </p:blipFill>
        <p:spPr>
          <a:xfrm>
            <a:off x="4389120" y="1737360"/>
            <a:ext cx="502920" cy="502920"/>
          </a:xfrm>
          <a:prstGeom prst="rect">
            <a:avLst/>
          </a:prstGeom>
        </p:spPr>
      </p:pic>
      <p:sp>
        <p:nvSpPr>
          <p:cNvPr id="13" name="Text 9"/>
          <p:cNvSpPr/>
          <p:nvPr/>
        </p:nvSpPr>
        <p:spPr>
          <a:xfrm>
            <a:off x="3520440" y="2286000"/>
            <a:ext cx="2286000" cy="54864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Georgia" pitchFamily="34" charset="0"/>
                <a:ea typeface="Georgia" pitchFamily="34" charset="-122"/>
                <a:cs typeface="Georgia" pitchFamily="34" charset="-120"/>
              </a:rPr>
              <a:t>Musées &amp;</a:t>
            </a:r>
            <a:endParaRPr lang="en-US" sz="1400" dirty="0"/>
          </a:p>
          <a:p>
            <a:pPr algn="ctr" indent="0" marL="0">
              <a:lnSpc>
                <a:spcPct val="115000"/>
              </a:lnSpc>
              <a:buNone/>
            </a:pPr>
            <a:r>
              <a:rPr lang="en-US" sz="1400" b="1" dirty="0">
                <a:solidFill>
                  <a:srgbClr val="FFFFFF"/>
                </a:solidFill>
                <a:latin typeface="Georgia" pitchFamily="34" charset="0"/>
                <a:ea typeface="Georgia" pitchFamily="34" charset="-122"/>
                <a:cs typeface="Georgia" pitchFamily="34" charset="-120"/>
              </a:rPr>
              <a:t>Expositions</a:t>
            </a:r>
            <a:endParaRPr lang="en-US" sz="1400" dirty="0"/>
          </a:p>
        </p:txBody>
      </p:sp>
      <p:sp>
        <p:nvSpPr>
          <p:cNvPr id="14" name="Text 10"/>
          <p:cNvSpPr/>
          <p:nvPr/>
        </p:nvSpPr>
        <p:spPr>
          <a:xfrm>
            <a:off x="3566160" y="3063240"/>
            <a:ext cx="2194560" cy="1417320"/>
          </a:xfrm>
          <a:prstGeom prst="rect">
            <a:avLst/>
          </a:prstGeom>
          <a:noFill/>
          <a:ln/>
        </p:spPr>
        <p:txBody>
          <a:bodyPr wrap="square" lIns="0" tIns="0" rIns="0" bIns="0" rtlCol="0" anchor="ctr"/>
          <a:lstStyle/>
          <a:p>
            <a:pPr indent="0" marL="0">
              <a:lnSpc>
                <a:spcPct val="145000"/>
              </a:lnSpc>
              <a:buNone/>
            </a:pPr>
            <a:r>
              <a:rPr lang="en-US" sz="1050" dirty="0">
                <a:solidFill>
                  <a:srgbClr val="7A6558"/>
                </a:solidFill>
                <a:latin typeface="Calibri" pitchFamily="34" charset="0"/>
                <a:ea typeface="Calibri" pitchFamily="34" charset="-122"/>
                <a:cs typeface="Calibri" pitchFamily="34" charset="-120"/>
              </a:rPr>
              <a:t>Créer un musée dédié à la culture chaoui dans l'Aurès. Intégrer le patrimoine chaoui dans les collections des musées nationaux et organiser des expositions itinérantes.</a:t>
            </a:r>
            <a:endParaRPr lang="en-US" sz="1050" dirty="0"/>
          </a:p>
        </p:txBody>
      </p:sp>
      <p:sp>
        <p:nvSpPr>
          <p:cNvPr id="15" name="Shape 11"/>
          <p:cNvSpPr/>
          <p:nvPr/>
        </p:nvSpPr>
        <p:spPr>
          <a:xfrm>
            <a:off x="6217920" y="1554480"/>
            <a:ext cx="265176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6217920" y="1554480"/>
            <a:ext cx="2651760" cy="1371600"/>
          </a:xfrm>
          <a:prstGeom prst="rect">
            <a:avLst/>
          </a:prstGeom>
          <a:solidFill>
            <a:srgbClr val="6B7B4F"/>
          </a:solidFill>
          <a:ln/>
        </p:spPr>
      </p:sp>
      <p:pic>
        <p:nvPicPr>
          <p:cNvPr id="17" name="Image 2" descr="preencoded.png">    </p:cNvPr>
          <p:cNvPicPr>
            <a:picLocks noChangeAspect="1"/>
          </p:cNvPicPr>
          <p:nvPr/>
        </p:nvPicPr>
        <p:blipFill>
          <a:blip r:embed="rId3"/>
          <a:stretch>
            <a:fillRect/>
          </a:stretch>
        </p:blipFill>
        <p:spPr>
          <a:xfrm>
            <a:off x="7269480" y="1737360"/>
            <a:ext cx="502920" cy="502920"/>
          </a:xfrm>
          <a:prstGeom prst="rect">
            <a:avLst/>
          </a:prstGeom>
        </p:spPr>
      </p:pic>
      <p:sp>
        <p:nvSpPr>
          <p:cNvPr id="18" name="Text 13"/>
          <p:cNvSpPr/>
          <p:nvPr/>
        </p:nvSpPr>
        <p:spPr>
          <a:xfrm>
            <a:off x="6400800" y="2286000"/>
            <a:ext cx="2286000" cy="54864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Georgia" pitchFamily="34" charset="0"/>
                <a:ea typeface="Georgia" pitchFamily="34" charset="-122"/>
                <a:cs typeface="Georgia" pitchFamily="34" charset="-120"/>
              </a:rPr>
              <a:t>Classements</a:t>
            </a:r>
            <a:endParaRPr lang="en-US" sz="1400" dirty="0"/>
          </a:p>
          <a:p>
            <a:pPr algn="ctr" indent="0" marL="0">
              <a:lnSpc>
                <a:spcPct val="115000"/>
              </a:lnSpc>
              <a:buNone/>
            </a:pPr>
            <a:r>
              <a:rPr lang="en-US" sz="1400" b="1" dirty="0">
                <a:solidFill>
                  <a:srgbClr val="FFFFFF"/>
                </a:solidFill>
                <a:latin typeface="Georgia" pitchFamily="34" charset="0"/>
                <a:ea typeface="Georgia" pitchFamily="34" charset="-122"/>
                <a:cs typeface="Georgia" pitchFamily="34" charset="-120"/>
              </a:rPr>
              <a:t>UNESCO</a:t>
            </a:r>
            <a:endParaRPr lang="en-US" sz="1400" dirty="0"/>
          </a:p>
        </p:txBody>
      </p:sp>
      <p:sp>
        <p:nvSpPr>
          <p:cNvPr id="19" name="Text 14"/>
          <p:cNvSpPr/>
          <p:nvPr/>
        </p:nvSpPr>
        <p:spPr>
          <a:xfrm>
            <a:off x="6446520" y="3063240"/>
            <a:ext cx="2194560" cy="1417320"/>
          </a:xfrm>
          <a:prstGeom prst="rect">
            <a:avLst/>
          </a:prstGeom>
          <a:noFill/>
          <a:ln/>
        </p:spPr>
        <p:txBody>
          <a:bodyPr wrap="square" lIns="0" tIns="0" rIns="0" bIns="0" rtlCol="0" anchor="ctr"/>
          <a:lstStyle/>
          <a:p>
            <a:pPr indent="0" marL="0">
              <a:lnSpc>
                <a:spcPct val="145000"/>
              </a:lnSpc>
              <a:buNone/>
            </a:pPr>
            <a:r>
              <a:rPr lang="en-US" sz="1050" dirty="0">
                <a:solidFill>
                  <a:srgbClr val="7A6558"/>
                </a:solidFill>
                <a:latin typeface="Calibri" pitchFamily="34" charset="0"/>
                <a:ea typeface="Calibri" pitchFamily="34" charset="-122"/>
                <a:cs typeface="Calibri" pitchFamily="34" charset="-120"/>
              </a:rPr>
              <a:t>Déposer des dossiers pour le patrimoine immatériel (Rahaba, Yennar, savoir-faire artisanaux) et matériel (villages historiques, Medracen) auprès de l'UNESCO.</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1810"/>
        </a:solidFill>
      </p:bgPr>
    </p:bg>
    <p:spTree>
      <p:nvGrpSpPr>
        <p:cNvPr id="1" name=""/>
        <p:cNvGrpSpPr/>
        <p:nvPr/>
      </p:nvGrpSpPr>
      <p:grpSpPr>
        <a:xfrm>
          <a:off x="0" y="0"/>
          <a:ext cx="0" cy="0"/>
          <a:chOff x="0" y="0"/>
          <a:chExt cx="0" cy="0"/>
        </a:xfrm>
      </p:grpSpPr>
      <p:sp>
        <p:nvSpPr>
          <p:cNvPr id="2" name="Shape 0"/>
          <p:cNvSpPr/>
          <p:nvPr/>
        </p:nvSpPr>
        <p:spPr>
          <a:xfrm>
            <a:off x="457200" y="320040"/>
            <a:ext cx="1645920" cy="320040"/>
          </a:xfrm>
          <a:prstGeom prst="rect">
            <a:avLst/>
          </a:prstGeom>
          <a:solidFill>
            <a:srgbClr val="C17B3A"/>
          </a:solidFill>
          <a:ln/>
        </p:spPr>
      </p:sp>
      <p:sp>
        <p:nvSpPr>
          <p:cNvPr id="3" name="Text 1"/>
          <p:cNvSpPr/>
          <p:nvPr/>
        </p:nvSpPr>
        <p:spPr>
          <a:xfrm>
            <a:off x="457200" y="320040"/>
            <a:ext cx="1645920" cy="32004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AXE 3 — SOLUTION</a:t>
            </a:r>
            <a:endParaRPr lang="en-US" sz="1000" dirty="0"/>
          </a:p>
        </p:txBody>
      </p:sp>
      <p:sp>
        <p:nvSpPr>
          <p:cNvPr id="4" name="Text 2"/>
          <p:cNvSpPr/>
          <p:nvPr/>
        </p:nvSpPr>
        <p:spPr>
          <a:xfrm>
            <a:off x="457200" y="82296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Langue, Éducation &amp; Transmission</a:t>
            </a:r>
            <a:endParaRPr lang="en-US" sz="2800" dirty="0"/>
          </a:p>
        </p:txBody>
      </p:sp>
      <p:sp>
        <p:nvSpPr>
          <p:cNvPr id="5" name="Shape 3"/>
          <p:cNvSpPr/>
          <p:nvPr/>
        </p:nvSpPr>
        <p:spPr>
          <a:xfrm>
            <a:off x="457200" y="1554480"/>
            <a:ext cx="8229600" cy="749808"/>
          </a:xfrm>
          <a:prstGeom prst="rect">
            <a:avLst/>
          </a:prstGeom>
          <a:solidFill>
            <a:srgbClr val="FFFFFF">
              <a:alpha val="10000"/>
            </a:srgbClr>
          </a:solidFill>
          <a:ln w="6350">
            <a:solidFill>
              <a:srgbClr val="D4956A"/>
            </a:solidFill>
            <a:prstDash val="solid"/>
          </a:ln>
        </p:spPr>
      </p:sp>
      <p:sp>
        <p:nvSpPr>
          <p:cNvPr id="6" name="Shape 4"/>
          <p:cNvSpPr/>
          <p:nvPr/>
        </p:nvSpPr>
        <p:spPr>
          <a:xfrm>
            <a:off x="640080" y="1664208"/>
            <a:ext cx="502920" cy="502920"/>
          </a:xfrm>
          <a:prstGeom prst="ellipse">
            <a:avLst/>
          </a:prstGeom>
          <a:solidFill>
            <a:srgbClr val="C17B3A"/>
          </a:solidFill>
          <a:ln/>
        </p:spPr>
      </p:sp>
      <p:pic>
        <p:nvPicPr>
          <p:cNvPr id="7" name="Image 0" descr="preencoded.png">    </p:cNvPr>
          <p:cNvPicPr>
            <a:picLocks noChangeAspect="1"/>
          </p:cNvPicPr>
          <p:nvPr/>
        </p:nvPicPr>
        <p:blipFill>
          <a:blip r:embed="rId1"/>
          <a:stretch>
            <a:fillRect/>
          </a:stretch>
        </p:blipFill>
        <p:spPr>
          <a:xfrm>
            <a:off x="749808" y="1764792"/>
            <a:ext cx="274320" cy="274320"/>
          </a:xfrm>
          <a:prstGeom prst="rect">
            <a:avLst/>
          </a:prstGeom>
        </p:spPr>
      </p:pic>
      <p:sp>
        <p:nvSpPr>
          <p:cNvPr id="8" name="Text 5"/>
          <p:cNvSpPr/>
          <p:nvPr/>
        </p:nvSpPr>
        <p:spPr>
          <a:xfrm>
            <a:off x="1371600" y="1581912"/>
            <a:ext cx="6949440" cy="320040"/>
          </a:xfrm>
          <a:prstGeom prst="rect">
            <a:avLst/>
          </a:prstGeom>
          <a:noFill/>
          <a:ln/>
        </p:spPr>
        <p:txBody>
          <a:bodyPr wrap="square" lIns="0" tIns="0" rIns="0" bIns="0" rtlCol="0" anchor="ctr"/>
          <a:lstStyle/>
          <a:p>
            <a:pPr indent="0" marL="0">
              <a:buNone/>
            </a:pPr>
            <a:r>
              <a:rPr lang="en-US" sz="1350" b="1" dirty="0">
                <a:solidFill>
                  <a:srgbClr val="FFFFFF"/>
                </a:solidFill>
                <a:latin typeface="Georgia" pitchFamily="34" charset="0"/>
                <a:ea typeface="Georgia" pitchFamily="34" charset="-122"/>
                <a:cs typeface="Georgia" pitchFamily="34" charset="-120"/>
              </a:rPr>
              <a:t>Dictionnaires &amp; grammaires officiels</a:t>
            </a:r>
            <a:endParaRPr lang="en-US" sz="1350" dirty="0"/>
          </a:p>
        </p:txBody>
      </p:sp>
      <p:sp>
        <p:nvSpPr>
          <p:cNvPr id="9" name="Text 6"/>
          <p:cNvSpPr/>
          <p:nvPr/>
        </p:nvSpPr>
        <p:spPr>
          <a:xfrm>
            <a:off x="1371600" y="1901952"/>
            <a:ext cx="6949440" cy="365760"/>
          </a:xfrm>
          <a:prstGeom prst="rect">
            <a:avLst/>
          </a:prstGeom>
          <a:noFill/>
          <a:ln/>
        </p:spPr>
        <p:txBody>
          <a:bodyPr wrap="square" lIns="0" tIns="0" rIns="0" bIns="0" rtlCol="0" anchor="ctr"/>
          <a:lstStyle/>
          <a:p>
            <a:pPr indent="0" marL="0">
              <a:lnSpc>
                <a:spcPct val="130000"/>
              </a:lnSpc>
              <a:buNone/>
            </a:pPr>
            <a:r>
              <a:rPr lang="en-US" sz="1000" dirty="0">
                <a:solidFill>
                  <a:srgbClr val="E7E0D1"/>
                </a:solidFill>
                <a:latin typeface="Calibri" pitchFamily="34" charset="0"/>
                <a:ea typeface="Calibri" pitchFamily="34" charset="-122"/>
                <a:cs typeface="Calibri" pitchFamily="34" charset="-120"/>
              </a:rPr>
              <a:t>Publier des ouvrages de référence sur la langue chaoui : dictionnaires chaoui-arabe, chaoui-français, grammaires normalisées — des outils pérennes, pas des posts.</a:t>
            </a:r>
            <a:endParaRPr lang="en-US" sz="1000" dirty="0"/>
          </a:p>
        </p:txBody>
      </p:sp>
      <p:sp>
        <p:nvSpPr>
          <p:cNvPr id="10" name="Shape 7"/>
          <p:cNvSpPr/>
          <p:nvPr/>
        </p:nvSpPr>
        <p:spPr>
          <a:xfrm>
            <a:off x="457200" y="2423160"/>
            <a:ext cx="8229600" cy="749808"/>
          </a:xfrm>
          <a:prstGeom prst="rect">
            <a:avLst/>
          </a:prstGeom>
          <a:solidFill>
            <a:srgbClr val="FFFFFF">
              <a:alpha val="10000"/>
            </a:srgbClr>
          </a:solidFill>
          <a:ln w="6350">
            <a:solidFill>
              <a:srgbClr val="D4956A"/>
            </a:solidFill>
            <a:prstDash val="solid"/>
          </a:ln>
        </p:spPr>
      </p:sp>
      <p:sp>
        <p:nvSpPr>
          <p:cNvPr id="11" name="Shape 8"/>
          <p:cNvSpPr/>
          <p:nvPr/>
        </p:nvSpPr>
        <p:spPr>
          <a:xfrm>
            <a:off x="640080" y="2532888"/>
            <a:ext cx="502920" cy="502920"/>
          </a:xfrm>
          <a:prstGeom prst="ellipse">
            <a:avLst/>
          </a:prstGeom>
          <a:solidFill>
            <a:srgbClr val="C17B3A"/>
          </a:solidFill>
          <a:ln/>
        </p:spPr>
      </p:sp>
      <p:pic>
        <p:nvPicPr>
          <p:cNvPr id="12" name="Image 1" descr="preencoded.png">    </p:cNvPr>
          <p:cNvPicPr>
            <a:picLocks noChangeAspect="1"/>
          </p:cNvPicPr>
          <p:nvPr/>
        </p:nvPicPr>
        <p:blipFill>
          <a:blip r:embed="rId2"/>
          <a:stretch>
            <a:fillRect/>
          </a:stretch>
        </p:blipFill>
        <p:spPr>
          <a:xfrm>
            <a:off x="749808" y="2633472"/>
            <a:ext cx="274320" cy="274320"/>
          </a:xfrm>
          <a:prstGeom prst="rect">
            <a:avLst/>
          </a:prstGeom>
        </p:spPr>
      </p:pic>
      <p:sp>
        <p:nvSpPr>
          <p:cNvPr id="13" name="Text 9"/>
          <p:cNvSpPr/>
          <p:nvPr/>
        </p:nvSpPr>
        <p:spPr>
          <a:xfrm>
            <a:off x="1371600" y="2450592"/>
            <a:ext cx="6949440" cy="320040"/>
          </a:xfrm>
          <a:prstGeom prst="rect">
            <a:avLst/>
          </a:prstGeom>
          <a:noFill/>
          <a:ln/>
        </p:spPr>
        <p:txBody>
          <a:bodyPr wrap="square" lIns="0" tIns="0" rIns="0" bIns="0" rtlCol="0" anchor="ctr"/>
          <a:lstStyle/>
          <a:p>
            <a:pPr indent="0" marL="0">
              <a:buNone/>
            </a:pPr>
            <a:r>
              <a:rPr lang="en-US" sz="1350" b="1" dirty="0">
                <a:solidFill>
                  <a:srgbClr val="FFFFFF"/>
                </a:solidFill>
                <a:latin typeface="Georgia" pitchFamily="34" charset="0"/>
                <a:ea typeface="Georgia" pitchFamily="34" charset="-122"/>
                <a:cs typeface="Georgia" pitchFamily="34" charset="-120"/>
              </a:rPr>
              <a:t>Intégration scolaire</a:t>
            </a:r>
            <a:endParaRPr lang="en-US" sz="1350" dirty="0"/>
          </a:p>
        </p:txBody>
      </p:sp>
      <p:sp>
        <p:nvSpPr>
          <p:cNvPr id="14" name="Text 10"/>
          <p:cNvSpPr/>
          <p:nvPr/>
        </p:nvSpPr>
        <p:spPr>
          <a:xfrm>
            <a:off x="1371600" y="2770632"/>
            <a:ext cx="6949440" cy="365760"/>
          </a:xfrm>
          <a:prstGeom prst="rect">
            <a:avLst/>
          </a:prstGeom>
          <a:noFill/>
          <a:ln/>
        </p:spPr>
        <p:txBody>
          <a:bodyPr wrap="square" lIns="0" tIns="0" rIns="0" bIns="0" rtlCol="0" anchor="ctr"/>
          <a:lstStyle/>
          <a:p>
            <a:pPr indent="0" marL="0">
              <a:lnSpc>
                <a:spcPct val="130000"/>
              </a:lnSpc>
              <a:buNone/>
            </a:pPr>
            <a:r>
              <a:rPr lang="en-US" sz="1000" dirty="0">
                <a:solidFill>
                  <a:srgbClr val="E7E0D1"/>
                </a:solidFill>
                <a:latin typeface="Calibri" pitchFamily="34" charset="0"/>
                <a:ea typeface="Calibri" pitchFamily="34" charset="-122"/>
                <a:cs typeface="Calibri" pitchFamily="34" charset="-120"/>
              </a:rPr>
              <a:t>Faire entrer le chaoui dans le système éducatif formel avec des manuels pédagogiques, des programmes et des enseignants formés — une inscription officielle dans l'institution.</a:t>
            </a:r>
            <a:endParaRPr lang="en-US" sz="1000" dirty="0"/>
          </a:p>
        </p:txBody>
      </p:sp>
      <p:sp>
        <p:nvSpPr>
          <p:cNvPr id="15" name="Shape 11"/>
          <p:cNvSpPr/>
          <p:nvPr/>
        </p:nvSpPr>
        <p:spPr>
          <a:xfrm>
            <a:off x="457200" y="3291840"/>
            <a:ext cx="8229600" cy="749808"/>
          </a:xfrm>
          <a:prstGeom prst="rect">
            <a:avLst/>
          </a:prstGeom>
          <a:solidFill>
            <a:srgbClr val="FFFFFF">
              <a:alpha val="10000"/>
            </a:srgbClr>
          </a:solidFill>
          <a:ln w="6350">
            <a:solidFill>
              <a:srgbClr val="D4956A"/>
            </a:solidFill>
            <a:prstDash val="solid"/>
          </a:ln>
        </p:spPr>
      </p:sp>
      <p:sp>
        <p:nvSpPr>
          <p:cNvPr id="16" name="Shape 12"/>
          <p:cNvSpPr/>
          <p:nvPr/>
        </p:nvSpPr>
        <p:spPr>
          <a:xfrm>
            <a:off x="640080" y="3401568"/>
            <a:ext cx="502920" cy="502920"/>
          </a:xfrm>
          <a:prstGeom prst="ellipse">
            <a:avLst/>
          </a:prstGeom>
          <a:solidFill>
            <a:srgbClr val="C17B3A"/>
          </a:solidFill>
          <a:ln/>
        </p:spPr>
      </p:sp>
      <p:pic>
        <p:nvPicPr>
          <p:cNvPr id="17" name="Image 2" descr="preencoded.png">    </p:cNvPr>
          <p:cNvPicPr>
            <a:picLocks noChangeAspect="1"/>
          </p:cNvPicPr>
          <p:nvPr/>
        </p:nvPicPr>
        <p:blipFill>
          <a:blip r:embed="rId3"/>
          <a:stretch>
            <a:fillRect/>
          </a:stretch>
        </p:blipFill>
        <p:spPr>
          <a:xfrm>
            <a:off x="749808" y="3502152"/>
            <a:ext cx="274320" cy="274320"/>
          </a:xfrm>
          <a:prstGeom prst="rect">
            <a:avLst/>
          </a:prstGeom>
        </p:spPr>
      </p:pic>
      <p:sp>
        <p:nvSpPr>
          <p:cNvPr id="18" name="Text 13"/>
          <p:cNvSpPr/>
          <p:nvPr/>
        </p:nvSpPr>
        <p:spPr>
          <a:xfrm>
            <a:off x="1371600" y="3319272"/>
            <a:ext cx="6949440" cy="320040"/>
          </a:xfrm>
          <a:prstGeom prst="rect">
            <a:avLst/>
          </a:prstGeom>
          <a:noFill/>
          <a:ln/>
        </p:spPr>
        <p:txBody>
          <a:bodyPr wrap="square" lIns="0" tIns="0" rIns="0" bIns="0" rtlCol="0" anchor="ctr"/>
          <a:lstStyle/>
          <a:p>
            <a:pPr indent="0" marL="0">
              <a:buNone/>
            </a:pPr>
            <a:r>
              <a:rPr lang="en-US" sz="1350" b="1" dirty="0">
                <a:solidFill>
                  <a:srgbClr val="FFFFFF"/>
                </a:solidFill>
                <a:latin typeface="Georgia" pitchFamily="34" charset="0"/>
                <a:ea typeface="Georgia" pitchFamily="34" charset="-122"/>
                <a:cs typeface="Georgia" pitchFamily="34" charset="-120"/>
              </a:rPr>
              <a:t>Documentation ethnographique</a:t>
            </a:r>
            <a:endParaRPr lang="en-US" sz="1350" dirty="0"/>
          </a:p>
        </p:txBody>
      </p:sp>
      <p:sp>
        <p:nvSpPr>
          <p:cNvPr id="19" name="Text 14"/>
          <p:cNvSpPr/>
          <p:nvPr/>
        </p:nvSpPr>
        <p:spPr>
          <a:xfrm>
            <a:off x="1371600" y="3639312"/>
            <a:ext cx="6949440" cy="365760"/>
          </a:xfrm>
          <a:prstGeom prst="rect">
            <a:avLst/>
          </a:prstGeom>
          <a:noFill/>
          <a:ln/>
        </p:spPr>
        <p:txBody>
          <a:bodyPr wrap="square" lIns="0" tIns="0" rIns="0" bIns="0" rtlCol="0" anchor="ctr"/>
          <a:lstStyle/>
          <a:p>
            <a:pPr indent="0" marL="0">
              <a:lnSpc>
                <a:spcPct val="130000"/>
              </a:lnSpc>
              <a:buNone/>
            </a:pPr>
            <a:r>
              <a:rPr lang="en-US" sz="1000" dirty="0">
                <a:solidFill>
                  <a:srgbClr val="E7E0D1"/>
                </a:solidFill>
                <a:latin typeface="Calibri" pitchFamily="34" charset="0"/>
                <a:ea typeface="Calibri" pitchFamily="34" charset="-122"/>
                <a:cs typeface="Calibri" pitchFamily="34" charset="-120"/>
              </a:rPr>
              <a:t>Enregistrer et transcrire les contes, proverbes, chants et récits oraux des anciens dans des bases de données académiques avant qu'ils ne disparaissent avec eux.</a:t>
            </a:r>
            <a:endParaRPr lang="en-US" sz="1000" dirty="0"/>
          </a:p>
        </p:txBody>
      </p:sp>
      <p:sp>
        <p:nvSpPr>
          <p:cNvPr id="20" name="Shape 15"/>
          <p:cNvSpPr/>
          <p:nvPr/>
        </p:nvSpPr>
        <p:spPr>
          <a:xfrm>
            <a:off x="457200" y="4160520"/>
            <a:ext cx="8229600" cy="749808"/>
          </a:xfrm>
          <a:prstGeom prst="rect">
            <a:avLst/>
          </a:prstGeom>
          <a:solidFill>
            <a:srgbClr val="FFFFFF">
              <a:alpha val="10000"/>
            </a:srgbClr>
          </a:solidFill>
          <a:ln w="6350">
            <a:solidFill>
              <a:srgbClr val="D4956A"/>
            </a:solidFill>
            <a:prstDash val="solid"/>
          </a:ln>
        </p:spPr>
      </p:sp>
      <p:sp>
        <p:nvSpPr>
          <p:cNvPr id="21" name="Shape 16"/>
          <p:cNvSpPr/>
          <p:nvPr/>
        </p:nvSpPr>
        <p:spPr>
          <a:xfrm>
            <a:off x="640080" y="4270248"/>
            <a:ext cx="502920" cy="502920"/>
          </a:xfrm>
          <a:prstGeom prst="ellipse">
            <a:avLst/>
          </a:prstGeom>
          <a:solidFill>
            <a:srgbClr val="C17B3A"/>
          </a:solidFill>
          <a:ln/>
        </p:spPr>
      </p:sp>
      <p:pic>
        <p:nvPicPr>
          <p:cNvPr id="22" name="Image 3" descr="preencoded.png">    </p:cNvPr>
          <p:cNvPicPr>
            <a:picLocks noChangeAspect="1"/>
          </p:cNvPicPr>
          <p:nvPr/>
        </p:nvPicPr>
        <p:blipFill>
          <a:blip r:embed="rId4"/>
          <a:stretch>
            <a:fillRect/>
          </a:stretch>
        </p:blipFill>
        <p:spPr>
          <a:xfrm>
            <a:off x="749808" y="4370832"/>
            <a:ext cx="274320" cy="274320"/>
          </a:xfrm>
          <a:prstGeom prst="rect">
            <a:avLst/>
          </a:prstGeom>
        </p:spPr>
      </p:pic>
      <p:sp>
        <p:nvSpPr>
          <p:cNvPr id="23" name="Text 17"/>
          <p:cNvSpPr/>
          <p:nvPr/>
        </p:nvSpPr>
        <p:spPr>
          <a:xfrm>
            <a:off x="1371600" y="4187952"/>
            <a:ext cx="6949440" cy="320040"/>
          </a:xfrm>
          <a:prstGeom prst="rect">
            <a:avLst/>
          </a:prstGeom>
          <a:noFill/>
          <a:ln/>
        </p:spPr>
        <p:txBody>
          <a:bodyPr wrap="square" lIns="0" tIns="0" rIns="0" bIns="0" rtlCol="0" anchor="ctr"/>
          <a:lstStyle/>
          <a:p>
            <a:pPr indent="0" marL="0">
              <a:buNone/>
            </a:pPr>
            <a:r>
              <a:rPr lang="en-US" sz="1350" b="1" dirty="0">
                <a:solidFill>
                  <a:srgbClr val="FFFFFF"/>
                </a:solidFill>
                <a:latin typeface="Georgia" pitchFamily="34" charset="0"/>
                <a:ea typeface="Georgia" pitchFamily="34" charset="-122"/>
                <a:cs typeface="Georgia" pitchFamily="34" charset="-120"/>
              </a:rPr>
              <a:t>Traduction des sources historiques</a:t>
            </a:r>
            <a:endParaRPr lang="en-US" sz="1350" dirty="0"/>
          </a:p>
        </p:txBody>
      </p:sp>
      <p:sp>
        <p:nvSpPr>
          <p:cNvPr id="24" name="Text 18"/>
          <p:cNvSpPr/>
          <p:nvPr/>
        </p:nvSpPr>
        <p:spPr>
          <a:xfrm>
            <a:off x="1371600" y="4507992"/>
            <a:ext cx="6949440" cy="365760"/>
          </a:xfrm>
          <a:prstGeom prst="rect">
            <a:avLst/>
          </a:prstGeom>
          <a:noFill/>
          <a:ln/>
        </p:spPr>
        <p:txBody>
          <a:bodyPr wrap="square" lIns="0" tIns="0" rIns="0" bIns="0" rtlCol="0" anchor="ctr"/>
          <a:lstStyle/>
          <a:p>
            <a:pPr indent="0" marL="0">
              <a:lnSpc>
                <a:spcPct val="130000"/>
              </a:lnSpc>
              <a:buNone/>
            </a:pPr>
            <a:r>
              <a:rPr lang="en-US" sz="1000" dirty="0">
                <a:solidFill>
                  <a:srgbClr val="E7E0D1"/>
                </a:solidFill>
                <a:latin typeface="Calibri" pitchFamily="34" charset="0"/>
                <a:ea typeface="Calibri" pitchFamily="34" charset="-122"/>
                <a:cs typeface="Calibri" pitchFamily="34" charset="-120"/>
              </a:rPr>
              <a:t>Traduire et publier les travaux existants (Gaudry, Colonna, Encyclopédie berbère) en arabe et en chaoui pour les rendre accessibles aux communautés locales.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457200" y="320040"/>
            <a:ext cx="1645920" cy="320040"/>
          </a:xfrm>
          <a:prstGeom prst="rect">
            <a:avLst/>
          </a:prstGeom>
          <a:solidFill>
            <a:srgbClr val="6B7B4F"/>
          </a:solidFill>
          <a:ln/>
        </p:spPr>
      </p:sp>
      <p:sp>
        <p:nvSpPr>
          <p:cNvPr id="3" name="Text 1"/>
          <p:cNvSpPr/>
          <p:nvPr/>
        </p:nvSpPr>
        <p:spPr>
          <a:xfrm>
            <a:off x="457200" y="320040"/>
            <a:ext cx="1645920" cy="32004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AXE 4 — SOLUTION</a:t>
            </a:r>
            <a:endParaRPr lang="en-US" sz="1000" dirty="0"/>
          </a:p>
        </p:txBody>
      </p:sp>
      <p:sp>
        <p:nvSpPr>
          <p:cNvPr id="4" name="Text 2"/>
          <p:cNvSpPr/>
          <p:nvPr/>
        </p:nvSpPr>
        <p:spPr>
          <a:xfrm>
            <a:off x="457200" y="822960"/>
            <a:ext cx="8229600" cy="548640"/>
          </a:xfrm>
          <a:prstGeom prst="rect">
            <a:avLst/>
          </a:prstGeom>
          <a:noFill/>
          <a:ln/>
        </p:spPr>
        <p:txBody>
          <a:bodyPr wrap="square" lIns="0" tIns="0" rIns="0" bIns="0" rtlCol="0" anchor="ctr"/>
          <a:lstStyle/>
          <a:p>
            <a:pPr indent="0" marL="0">
              <a:buNone/>
            </a:pPr>
            <a:r>
              <a:rPr lang="en-US" sz="2800" b="1" dirty="0">
                <a:solidFill>
                  <a:srgbClr val="2D1810"/>
                </a:solidFill>
                <a:latin typeface="Georgia" pitchFamily="34" charset="0"/>
                <a:ea typeface="Georgia" pitchFamily="34" charset="-122"/>
                <a:cs typeface="Georgia" pitchFamily="34" charset="-120"/>
              </a:rPr>
              <a:t>Numérique sérieux (pas les réseaux)</a:t>
            </a:r>
            <a:endParaRPr lang="en-US" sz="2800" dirty="0"/>
          </a:p>
        </p:txBody>
      </p:sp>
      <p:sp>
        <p:nvSpPr>
          <p:cNvPr id="5" name="Text 3"/>
          <p:cNvSpPr/>
          <p:nvPr/>
        </p:nvSpPr>
        <p:spPr>
          <a:xfrm>
            <a:off x="457200" y="1371600"/>
            <a:ext cx="8229600" cy="365760"/>
          </a:xfrm>
          <a:prstGeom prst="rect">
            <a:avLst/>
          </a:prstGeom>
          <a:noFill/>
          <a:ln/>
        </p:spPr>
        <p:txBody>
          <a:bodyPr wrap="square" lIns="0" tIns="0" rIns="0" bIns="0" rtlCol="0" anchor="ctr"/>
          <a:lstStyle/>
          <a:p>
            <a:pPr indent="0" marL="0">
              <a:buNone/>
            </a:pPr>
            <a:r>
              <a:rPr lang="en-US" sz="1200" i="1" dirty="0">
                <a:solidFill>
                  <a:srgbClr val="7A6558"/>
                </a:solidFill>
                <a:latin typeface="Calibri" pitchFamily="34" charset="0"/>
                <a:ea typeface="Calibri" pitchFamily="34" charset="-122"/>
                <a:cs typeface="Calibri" pitchFamily="34" charset="-120"/>
              </a:rPr>
              <a:t>Le numérique peut être un outil puissant — mais seulement s'il est au service du référencement, pas du divertissement.</a:t>
            </a:r>
            <a:endParaRPr lang="en-US" sz="1200" dirty="0"/>
          </a:p>
        </p:txBody>
      </p:sp>
      <p:sp>
        <p:nvSpPr>
          <p:cNvPr id="6" name="Shape 4"/>
          <p:cNvSpPr/>
          <p:nvPr/>
        </p:nvSpPr>
        <p:spPr>
          <a:xfrm>
            <a:off x="457200" y="1920240"/>
            <a:ext cx="192024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1143000" y="2103120"/>
            <a:ext cx="548640" cy="548640"/>
          </a:xfrm>
          <a:prstGeom prst="ellipse">
            <a:avLst/>
          </a:prstGeom>
          <a:solidFill>
            <a:srgbClr val="6B7B4F"/>
          </a:solidFill>
          <a:ln/>
        </p:spPr>
      </p:sp>
      <p:pic>
        <p:nvPicPr>
          <p:cNvPr id="8" name="Image 0" descr="preencoded.png">    </p:cNvPr>
          <p:cNvPicPr>
            <a:picLocks noChangeAspect="1"/>
          </p:cNvPicPr>
          <p:nvPr/>
        </p:nvPicPr>
        <p:blipFill>
          <a:blip r:embed="rId1"/>
          <a:stretch>
            <a:fillRect/>
          </a:stretch>
        </p:blipFill>
        <p:spPr>
          <a:xfrm>
            <a:off x="1207008" y="2176272"/>
            <a:ext cx="411480" cy="411480"/>
          </a:xfrm>
          <a:prstGeom prst="rect">
            <a:avLst/>
          </a:prstGeom>
        </p:spPr>
      </p:pic>
      <p:sp>
        <p:nvSpPr>
          <p:cNvPr id="9" name="Text 6"/>
          <p:cNvSpPr/>
          <p:nvPr/>
        </p:nvSpPr>
        <p:spPr>
          <a:xfrm>
            <a:off x="594360" y="2788920"/>
            <a:ext cx="1645920" cy="457200"/>
          </a:xfrm>
          <a:prstGeom prst="rect">
            <a:avLst/>
          </a:prstGeom>
          <a:noFill/>
          <a:ln/>
        </p:spPr>
        <p:txBody>
          <a:bodyPr wrap="square" lIns="0" tIns="0" rIns="0" bIns="0" rtlCol="0" anchor="ctr"/>
          <a:lstStyle/>
          <a:p>
            <a:pPr algn="ctr" indent="0" marL="0">
              <a:lnSpc>
                <a:spcPct val="110000"/>
              </a:lnSpc>
              <a:buNone/>
            </a:pPr>
            <a:r>
              <a:rPr lang="en-US" sz="1300" b="1" dirty="0">
                <a:solidFill>
                  <a:srgbClr val="2D1810"/>
                </a:solidFill>
                <a:latin typeface="Georgia" pitchFamily="34" charset="0"/>
                <a:ea typeface="Georgia" pitchFamily="34" charset="-122"/>
                <a:cs typeface="Georgia" pitchFamily="34" charset="-120"/>
              </a:rPr>
              <a:t>Encyclopédie</a:t>
            </a:r>
            <a:endParaRPr lang="en-US" sz="1300" dirty="0"/>
          </a:p>
          <a:p>
            <a:pPr algn="ctr" indent="0" marL="0">
              <a:lnSpc>
                <a:spcPct val="110000"/>
              </a:lnSpc>
              <a:buNone/>
            </a:pPr>
            <a:r>
              <a:rPr lang="en-US" sz="1300" b="1" dirty="0">
                <a:solidFill>
                  <a:srgbClr val="2D1810"/>
                </a:solidFill>
                <a:latin typeface="Georgia" pitchFamily="34" charset="0"/>
                <a:ea typeface="Georgia" pitchFamily="34" charset="-122"/>
                <a:cs typeface="Georgia" pitchFamily="34" charset="-120"/>
              </a:rPr>
              <a:t>en ligne</a:t>
            </a:r>
            <a:endParaRPr lang="en-US" sz="1300" dirty="0"/>
          </a:p>
        </p:txBody>
      </p:sp>
      <p:sp>
        <p:nvSpPr>
          <p:cNvPr id="10" name="Text 7"/>
          <p:cNvSpPr/>
          <p:nvPr/>
        </p:nvSpPr>
        <p:spPr>
          <a:xfrm>
            <a:off x="594360" y="3291840"/>
            <a:ext cx="1645920" cy="1188720"/>
          </a:xfrm>
          <a:prstGeom prst="rect">
            <a:avLst/>
          </a:prstGeom>
          <a:noFill/>
          <a:ln/>
        </p:spPr>
        <p:txBody>
          <a:bodyPr wrap="square" lIns="0" tIns="0" rIns="0" bIns="0" rtlCol="0" anchor="ctr"/>
          <a:lstStyle/>
          <a:p>
            <a:pPr algn="ctr" indent="0" marL="0">
              <a:lnSpc>
                <a:spcPct val="140000"/>
              </a:lnSpc>
              <a:buNone/>
            </a:pPr>
            <a:r>
              <a:rPr lang="en-US" sz="1000" dirty="0">
                <a:solidFill>
                  <a:srgbClr val="7A6558"/>
                </a:solidFill>
                <a:latin typeface="Calibri" pitchFamily="34" charset="0"/>
                <a:ea typeface="Calibri" pitchFamily="34" charset="-122"/>
                <a:cs typeface="Calibri" pitchFamily="34" charset="-120"/>
              </a:rPr>
              <a:t>Enrichir Wikipédia avec des articles sourcés et vérifiés. Créer un wiki dédié au patrimoine chaoui, maintenu par des chercheurs.</a:t>
            </a:r>
            <a:endParaRPr lang="en-US" sz="1000" dirty="0"/>
          </a:p>
        </p:txBody>
      </p:sp>
      <p:sp>
        <p:nvSpPr>
          <p:cNvPr id="11" name="Shape 8"/>
          <p:cNvSpPr/>
          <p:nvPr/>
        </p:nvSpPr>
        <p:spPr>
          <a:xfrm>
            <a:off x="2606040" y="1920240"/>
            <a:ext cx="192024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3291840" y="2103120"/>
            <a:ext cx="548640" cy="548640"/>
          </a:xfrm>
          <a:prstGeom prst="ellipse">
            <a:avLst/>
          </a:prstGeom>
          <a:solidFill>
            <a:srgbClr val="6B7B4F"/>
          </a:solidFill>
          <a:ln/>
        </p:spPr>
      </p:sp>
      <p:pic>
        <p:nvPicPr>
          <p:cNvPr id="13" name="Image 1" descr="preencoded.png">    </p:cNvPr>
          <p:cNvPicPr>
            <a:picLocks noChangeAspect="1"/>
          </p:cNvPicPr>
          <p:nvPr/>
        </p:nvPicPr>
        <p:blipFill>
          <a:blip r:embed="rId2"/>
          <a:stretch>
            <a:fillRect/>
          </a:stretch>
        </p:blipFill>
        <p:spPr>
          <a:xfrm>
            <a:off x="3355848" y="2176272"/>
            <a:ext cx="411480" cy="411480"/>
          </a:xfrm>
          <a:prstGeom prst="rect">
            <a:avLst/>
          </a:prstGeom>
        </p:spPr>
      </p:pic>
      <p:sp>
        <p:nvSpPr>
          <p:cNvPr id="14" name="Text 10"/>
          <p:cNvSpPr/>
          <p:nvPr/>
        </p:nvSpPr>
        <p:spPr>
          <a:xfrm>
            <a:off x="2743200" y="2788920"/>
            <a:ext cx="1645920" cy="457200"/>
          </a:xfrm>
          <a:prstGeom prst="rect">
            <a:avLst/>
          </a:prstGeom>
          <a:noFill/>
          <a:ln/>
        </p:spPr>
        <p:txBody>
          <a:bodyPr wrap="square" lIns="0" tIns="0" rIns="0" bIns="0" rtlCol="0" anchor="ctr"/>
          <a:lstStyle/>
          <a:p>
            <a:pPr algn="ctr" indent="0" marL="0">
              <a:lnSpc>
                <a:spcPct val="110000"/>
              </a:lnSpc>
              <a:buNone/>
            </a:pPr>
            <a:r>
              <a:rPr lang="en-US" sz="1300" b="1" dirty="0">
                <a:solidFill>
                  <a:srgbClr val="2D1810"/>
                </a:solidFill>
                <a:latin typeface="Georgia" pitchFamily="34" charset="0"/>
                <a:ea typeface="Georgia" pitchFamily="34" charset="-122"/>
                <a:cs typeface="Georgia" pitchFamily="34" charset="-120"/>
              </a:rPr>
              <a:t>Bibliothèque</a:t>
            </a:r>
            <a:endParaRPr lang="en-US" sz="1300" dirty="0"/>
          </a:p>
          <a:p>
            <a:pPr algn="ctr" indent="0" marL="0">
              <a:lnSpc>
                <a:spcPct val="110000"/>
              </a:lnSpc>
              <a:buNone/>
            </a:pPr>
            <a:r>
              <a:rPr lang="en-US" sz="1300" b="1" dirty="0">
                <a:solidFill>
                  <a:srgbClr val="2D1810"/>
                </a:solidFill>
                <a:latin typeface="Georgia" pitchFamily="34" charset="0"/>
                <a:ea typeface="Georgia" pitchFamily="34" charset="-122"/>
                <a:cs typeface="Georgia" pitchFamily="34" charset="-120"/>
              </a:rPr>
              <a:t>numérique</a:t>
            </a:r>
            <a:endParaRPr lang="en-US" sz="1300" dirty="0"/>
          </a:p>
        </p:txBody>
      </p:sp>
      <p:sp>
        <p:nvSpPr>
          <p:cNvPr id="15" name="Text 11"/>
          <p:cNvSpPr/>
          <p:nvPr/>
        </p:nvSpPr>
        <p:spPr>
          <a:xfrm>
            <a:off x="2743200" y="3291840"/>
            <a:ext cx="1645920" cy="1188720"/>
          </a:xfrm>
          <a:prstGeom prst="rect">
            <a:avLst/>
          </a:prstGeom>
          <a:noFill/>
          <a:ln/>
        </p:spPr>
        <p:txBody>
          <a:bodyPr wrap="square" lIns="0" tIns="0" rIns="0" bIns="0" rtlCol="0" anchor="ctr"/>
          <a:lstStyle/>
          <a:p>
            <a:pPr algn="ctr" indent="0" marL="0">
              <a:lnSpc>
                <a:spcPct val="140000"/>
              </a:lnSpc>
              <a:buNone/>
            </a:pPr>
            <a:r>
              <a:rPr lang="en-US" sz="1000" dirty="0">
                <a:solidFill>
                  <a:srgbClr val="7A6558"/>
                </a:solidFill>
                <a:latin typeface="Calibri" pitchFamily="34" charset="0"/>
                <a:ea typeface="Calibri" pitchFamily="34" charset="-122"/>
                <a:cs typeface="Calibri" pitchFamily="34" charset="-120"/>
              </a:rPr>
              <a:t>Numériser manuscrits, photos, thèses et les héberger sur des plateformes institutionnelles (pas sur les réseaux).</a:t>
            </a:r>
            <a:endParaRPr lang="en-US" sz="1000" dirty="0"/>
          </a:p>
        </p:txBody>
      </p:sp>
      <p:sp>
        <p:nvSpPr>
          <p:cNvPr id="16" name="Shape 12"/>
          <p:cNvSpPr/>
          <p:nvPr/>
        </p:nvSpPr>
        <p:spPr>
          <a:xfrm>
            <a:off x="4754880" y="1920240"/>
            <a:ext cx="192024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3"/>
          <p:cNvSpPr/>
          <p:nvPr/>
        </p:nvSpPr>
        <p:spPr>
          <a:xfrm>
            <a:off x="5440680" y="2103120"/>
            <a:ext cx="548640" cy="548640"/>
          </a:xfrm>
          <a:prstGeom prst="ellipse">
            <a:avLst/>
          </a:prstGeom>
          <a:solidFill>
            <a:srgbClr val="6B7B4F"/>
          </a:solidFill>
          <a:ln/>
        </p:spPr>
      </p:sp>
      <p:pic>
        <p:nvPicPr>
          <p:cNvPr id="18" name="Image 2" descr="preencoded.png">    </p:cNvPr>
          <p:cNvPicPr>
            <a:picLocks noChangeAspect="1"/>
          </p:cNvPicPr>
          <p:nvPr/>
        </p:nvPicPr>
        <p:blipFill>
          <a:blip r:embed="rId3"/>
          <a:stretch>
            <a:fillRect/>
          </a:stretch>
        </p:blipFill>
        <p:spPr>
          <a:xfrm>
            <a:off x="5504688" y="2176272"/>
            <a:ext cx="411480" cy="411480"/>
          </a:xfrm>
          <a:prstGeom prst="rect">
            <a:avLst/>
          </a:prstGeom>
        </p:spPr>
      </p:pic>
      <p:sp>
        <p:nvSpPr>
          <p:cNvPr id="19" name="Text 14"/>
          <p:cNvSpPr/>
          <p:nvPr/>
        </p:nvSpPr>
        <p:spPr>
          <a:xfrm>
            <a:off x="4892040" y="2788920"/>
            <a:ext cx="1645920" cy="457200"/>
          </a:xfrm>
          <a:prstGeom prst="rect">
            <a:avLst/>
          </a:prstGeom>
          <a:noFill/>
          <a:ln/>
        </p:spPr>
        <p:txBody>
          <a:bodyPr wrap="square" lIns="0" tIns="0" rIns="0" bIns="0" rtlCol="0" anchor="ctr"/>
          <a:lstStyle/>
          <a:p>
            <a:pPr algn="ctr" indent="0" marL="0">
              <a:lnSpc>
                <a:spcPct val="110000"/>
              </a:lnSpc>
              <a:buNone/>
            </a:pPr>
            <a:r>
              <a:rPr lang="en-US" sz="1300" b="1" dirty="0">
                <a:solidFill>
                  <a:srgbClr val="2D1810"/>
                </a:solidFill>
                <a:latin typeface="Georgia" pitchFamily="34" charset="0"/>
                <a:ea typeface="Georgia" pitchFamily="34" charset="-122"/>
                <a:cs typeface="Georgia" pitchFamily="34" charset="-120"/>
              </a:rPr>
              <a:t>Cartographie</a:t>
            </a:r>
            <a:endParaRPr lang="en-US" sz="1300" dirty="0"/>
          </a:p>
          <a:p>
            <a:pPr algn="ctr" indent="0" marL="0">
              <a:lnSpc>
                <a:spcPct val="110000"/>
              </a:lnSpc>
              <a:buNone/>
            </a:pPr>
            <a:r>
              <a:rPr lang="en-US" sz="1300" b="1" dirty="0">
                <a:solidFill>
                  <a:srgbClr val="2D1810"/>
                </a:solidFill>
                <a:latin typeface="Georgia" pitchFamily="34" charset="0"/>
                <a:ea typeface="Georgia" pitchFamily="34" charset="-122"/>
                <a:cs typeface="Georgia" pitchFamily="34" charset="-120"/>
              </a:rPr>
              <a:t>patrimoniale</a:t>
            </a:r>
            <a:endParaRPr lang="en-US" sz="1300" dirty="0"/>
          </a:p>
        </p:txBody>
      </p:sp>
      <p:sp>
        <p:nvSpPr>
          <p:cNvPr id="20" name="Text 15"/>
          <p:cNvSpPr/>
          <p:nvPr/>
        </p:nvSpPr>
        <p:spPr>
          <a:xfrm>
            <a:off x="4892040" y="3291840"/>
            <a:ext cx="1645920" cy="1188720"/>
          </a:xfrm>
          <a:prstGeom prst="rect">
            <a:avLst/>
          </a:prstGeom>
          <a:noFill/>
          <a:ln/>
        </p:spPr>
        <p:txBody>
          <a:bodyPr wrap="square" lIns="0" tIns="0" rIns="0" bIns="0" rtlCol="0" anchor="ctr"/>
          <a:lstStyle/>
          <a:p>
            <a:pPr algn="ctr" indent="0" marL="0">
              <a:lnSpc>
                <a:spcPct val="140000"/>
              </a:lnSpc>
              <a:buNone/>
            </a:pPr>
            <a:r>
              <a:rPr lang="en-US" sz="1000" dirty="0">
                <a:solidFill>
                  <a:srgbClr val="7A6558"/>
                </a:solidFill>
                <a:latin typeface="Calibri" pitchFamily="34" charset="0"/>
                <a:ea typeface="Calibri" pitchFamily="34" charset="-122"/>
                <a:cs typeface="Calibri" pitchFamily="34" charset="-120"/>
              </a:rPr>
              <a:t>Référencer sites, monuments et villages historiques de l'Aurès sur des cartes interactives avec données scientifiques.</a:t>
            </a:r>
            <a:endParaRPr lang="en-US" sz="1000" dirty="0"/>
          </a:p>
        </p:txBody>
      </p:sp>
      <p:sp>
        <p:nvSpPr>
          <p:cNvPr id="21" name="Shape 16"/>
          <p:cNvSpPr/>
          <p:nvPr/>
        </p:nvSpPr>
        <p:spPr>
          <a:xfrm>
            <a:off x="6903720" y="1920240"/>
            <a:ext cx="192024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7"/>
          <p:cNvSpPr/>
          <p:nvPr/>
        </p:nvSpPr>
        <p:spPr>
          <a:xfrm>
            <a:off x="7589520" y="2103120"/>
            <a:ext cx="548640" cy="548640"/>
          </a:xfrm>
          <a:prstGeom prst="ellipse">
            <a:avLst/>
          </a:prstGeom>
          <a:solidFill>
            <a:srgbClr val="6B7B4F"/>
          </a:solidFill>
          <a:ln/>
        </p:spPr>
      </p:sp>
      <p:pic>
        <p:nvPicPr>
          <p:cNvPr id="23" name="Image 3" descr="preencoded.png">    </p:cNvPr>
          <p:cNvPicPr>
            <a:picLocks noChangeAspect="1"/>
          </p:cNvPicPr>
          <p:nvPr/>
        </p:nvPicPr>
        <p:blipFill>
          <a:blip r:embed="rId4"/>
          <a:stretch>
            <a:fillRect/>
          </a:stretch>
        </p:blipFill>
        <p:spPr>
          <a:xfrm>
            <a:off x="7653528" y="2176272"/>
            <a:ext cx="411480" cy="411480"/>
          </a:xfrm>
          <a:prstGeom prst="rect">
            <a:avLst/>
          </a:prstGeom>
        </p:spPr>
      </p:pic>
      <p:sp>
        <p:nvSpPr>
          <p:cNvPr id="24" name="Text 18"/>
          <p:cNvSpPr/>
          <p:nvPr/>
        </p:nvSpPr>
        <p:spPr>
          <a:xfrm>
            <a:off x="7040880" y="2788920"/>
            <a:ext cx="1645920" cy="457200"/>
          </a:xfrm>
          <a:prstGeom prst="rect">
            <a:avLst/>
          </a:prstGeom>
          <a:noFill/>
          <a:ln/>
        </p:spPr>
        <p:txBody>
          <a:bodyPr wrap="square" lIns="0" tIns="0" rIns="0" bIns="0" rtlCol="0" anchor="ctr"/>
          <a:lstStyle/>
          <a:p>
            <a:pPr algn="ctr" indent="0" marL="0">
              <a:lnSpc>
                <a:spcPct val="110000"/>
              </a:lnSpc>
              <a:buNone/>
            </a:pPr>
            <a:r>
              <a:rPr lang="en-US" sz="1300" b="1" dirty="0">
                <a:solidFill>
                  <a:srgbClr val="2D1810"/>
                </a:solidFill>
                <a:latin typeface="Georgia" pitchFamily="34" charset="0"/>
                <a:ea typeface="Georgia" pitchFamily="34" charset="-122"/>
                <a:cs typeface="Georgia" pitchFamily="34" charset="-120"/>
              </a:rPr>
              <a:t>Base de</a:t>
            </a:r>
            <a:endParaRPr lang="en-US" sz="1300" dirty="0"/>
          </a:p>
          <a:p>
            <a:pPr algn="ctr" indent="0" marL="0">
              <a:lnSpc>
                <a:spcPct val="110000"/>
              </a:lnSpc>
              <a:buNone/>
            </a:pPr>
            <a:r>
              <a:rPr lang="en-US" sz="1300" b="1" dirty="0">
                <a:solidFill>
                  <a:srgbClr val="2D1810"/>
                </a:solidFill>
                <a:latin typeface="Georgia" pitchFamily="34" charset="0"/>
                <a:ea typeface="Georgia" pitchFamily="34" charset="-122"/>
                <a:cs typeface="Georgia" pitchFamily="34" charset="-120"/>
              </a:rPr>
              <a:t>données orale</a:t>
            </a:r>
            <a:endParaRPr lang="en-US" sz="1300" dirty="0"/>
          </a:p>
        </p:txBody>
      </p:sp>
      <p:sp>
        <p:nvSpPr>
          <p:cNvPr id="25" name="Text 19"/>
          <p:cNvSpPr/>
          <p:nvPr/>
        </p:nvSpPr>
        <p:spPr>
          <a:xfrm>
            <a:off x="7040880" y="3291840"/>
            <a:ext cx="1645920" cy="1188720"/>
          </a:xfrm>
          <a:prstGeom prst="rect">
            <a:avLst/>
          </a:prstGeom>
          <a:noFill/>
          <a:ln/>
        </p:spPr>
        <p:txBody>
          <a:bodyPr wrap="square" lIns="0" tIns="0" rIns="0" bIns="0" rtlCol="0" anchor="ctr"/>
          <a:lstStyle/>
          <a:p>
            <a:pPr algn="ctr" indent="0" marL="0">
              <a:lnSpc>
                <a:spcPct val="140000"/>
              </a:lnSpc>
              <a:buNone/>
            </a:pPr>
            <a:r>
              <a:rPr lang="en-US" sz="1000" dirty="0">
                <a:solidFill>
                  <a:srgbClr val="7A6558"/>
                </a:solidFill>
                <a:latin typeface="Calibri" pitchFamily="34" charset="0"/>
                <a:ea typeface="Calibri" pitchFamily="34" charset="-122"/>
                <a:cs typeface="Calibri" pitchFamily="34" charset="-120"/>
              </a:rPr>
              <a:t>Créer un corpus linguistique structuré avec transcriptions, métadonnées et analyse, accessible aux chercheurs du monde entier.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457200" y="320040"/>
            <a:ext cx="1463040" cy="320040"/>
          </a:xfrm>
          <a:prstGeom prst="rect">
            <a:avLst/>
          </a:prstGeom>
          <a:solidFill>
            <a:srgbClr val="B85042"/>
          </a:solidFill>
          <a:ln/>
        </p:spPr>
      </p:sp>
      <p:sp>
        <p:nvSpPr>
          <p:cNvPr id="3" name="Text 1"/>
          <p:cNvSpPr/>
          <p:nvPr/>
        </p:nvSpPr>
        <p:spPr>
          <a:xfrm>
            <a:off x="457200" y="320040"/>
            <a:ext cx="146304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COMMENT AGIR</a:t>
            </a:r>
            <a:endParaRPr lang="en-US" sz="1000" dirty="0"/>
          </a:p>
        </p:txBody>
      </p:sp>
      <p:sp>
        <p:nvSpPr>
          <p:cNvPr id="4" name="Text 2"/>
          <p:cNvSpPr/>
          <p:nvPr/>
        </p:nvSpPr>
        <p:spPr>
          <a:xfrm>
            <a:off x="457200" y="822960"/>
            <a:ext cx="8229600" cy="548640"/>
          </a:xfrm>
          <a:prstGeom prst="rect">
            <a:avLst/>
          </a:prstGeom>
          <a:noFill/>
          <a:ln/>
        </p:spPr>
        <p:txBody>
          <a:bodyPr wrap="square" lIns="0" tIns="0" rIns="0" bIns="0" rtlCol="0" anchor="ctr"/>
          <a:lstStyle/>
          <a:p>
            <a:pPr indent="0" marL="0">
              <a:buNone/>
            </a:pPr>
            <a:r>
              <a:rPr lang="en-US" sz="3000" b="1" dirty="0">
                <a:solidFill>
                  <a:srgbClr val="2D1810"/>
                </a:solidFill>
                <a:latin typeface="Georgia" pitchFamily="34" charset="0"/>
                <a:ea typeface="Georgia" pitchFamily="34" charset="-122"/>
                <a:cs typeface="Georgia" pitchFamily="34" charset="-120"/>
              </a:rPr>
              <a:t>Feuille de Route</a:t>
            </a:r>
            <a:endParaRPr lang="en-US" sz="3000" dirty="0"/>
          </a:p>
        </p:txBody>
      </p:sp>
      <p:sp>
        <p:nvSpPr>
          <p:cNvPr id="5" name="Shape 3"/>
          <p:cNvSpPr/>
          <p:nvPr/>
        </p:nvSpPr>
        <p:spPr>
          <a:xfrm>
            <a:off x="457200" y="1508760"/>
            <a:ext cx="265176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508760"/>
            <a:ext cx="2651760" cy="640080"/>
          </a:xfrm>
          <a:prstGeom prst="rect">
            <a:avLst/>
          </a:prstGeom>
          <a:solidFill>
            <a:srgbClr val="6B7B4F"/>
          </a:solidFill>
          <a:ln/>
        </p:spPr>
      </p:sp>
      <p:sp>
        <p:nvSpPr>
          <p:cNvPr id="7" name="Text 5"/>
          <p:cNvSpPr/>
          <p:nvPr/>
        </p:nvSpPr>
        <p:spPr>
          <a:xfrm>
            <a:off x="594360" y="1536192"/>
            <a:ext cx="2377440" cy="32004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COURT TERME</a:t>
            </a:r>
            <a:endParaRPr lang="en-US" sz="1200" dirty="0"/>
          </a:p>
        </p:txBody>
      </p:sp>
      <p:sp>
        <p:nvSpPr>
          <p:cNvPr id="8" name="Text 6"/>
          <p:cNvSpPr/>
          <p:nvPr/>
        </p:nvSpPr>
        <p:spPr>
          <a:xfrm>
            <a:off x="594360" y="1828800"/>
            <a:ext cx="237744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0 – 12 mois</a:t>
            </a:r>
            <a:endParaRPr lang="en-US" sz="1100" dirty="0"/>
          </a:p>
        </p:txBody>
      </p:sp>
      <p:pic>
        <p:nvPicPr>
          <p:cNvPr id="9" name="Image 0" descr="preencoded.png">    </p:cNvPr>
          <p:cNvPicPr>
            <a:picLocks noChangeAspect="1"/>
          </p:cNvPicPr>
          <p:nvPr/>
        </p:nvPicPr>
        <p:blipFill>
          <a:blip r:embed="rId1"/>
          <a:stretch>
            <a:fillRect/>
          </a:stretch>
        </p:blipFill>
        <p:spPr>
          <a:xfrm>
            <a:off x="640080" y="2350008"/>
            <a:ext cx="201168" cy="201168"/>
          </a:xfrm>
          <a:prstGeom prst="rect">
            <a:avLst/>
          </a:prstGeom>
        </p:spPr>
      </p:pic>
      <p:sp>
        <p:nvSpPr>
          <p:cNvPr id="10" name="Text 7"/>
          <p:cNvSpPr/>
          <p:nvPr/>
        </p:nvSpPr>
        <p:spPr>
          <a:xfrm>
            <a:off x="914400" y="233172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Recenser toutes les publications existantes sur la culture chaoui</a:t>
            </a:r>
            <a:endParaRPr lang="en-US" sz="1000" dirty="0"/>
          </a:p>
        </p:txBody>
      </p:sp>
      <p:pic>
        <p:nvPicPr>
          <p:cNvPr id="11" name="Image 1" descr="preencoded.png">    </p:cNvPr>
          <p:cNvPicPr>
            <a:picLocks noChangeAspect="1"/>
          </p:cNvPicPr>
          <p:nvPr/>
        </p:nvPicPr>
        <p:blipFill>
          <a:blip r:embed="rId2"/>
          <a:stretch>
            <a:fillRect/>
          </a:stretch>
        </p:blipFill>
        <p:spPr>
          <a:xfrm>
            <a:off x="640080" y="2898648"/>
            <a:ext cx="201168" cy="201168"/>
          </a:xfrm>
          <a:prstGeom prst="rect">
            <a:avLst/>
          </a:prstGeom>
        </p:spPr>
      </p:pic>
      <p:sp>
        <p:nvSpPr>
          <p:cNvPr id="12" name="Text 8"/>
          <p:cNvSpPr/>
          <p:nvPr/>
        </p:nvSpPr>
        <p:spPr>
          <a:xfrm>
            <a:off x="914400" y="288036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Lancer la collecte de témoignages oraux auprès des anciens</a:t>
            </a:r>
            <a:endParaRPr lang="en-US" sz="1000" dirty="0"/>
          </a:p>
        </p:txBody>
      </p:sp>
      <p:pic>
        <p:nvPicPr>
          <p:cNvPr id="13" name="Image 2" descr="preencoded.png">    </p:cNvPr>
          <p:cNvPicPr>
            <a:picLocks noChangeAspect="1"/>
          </p:cNvPicPr>
          <p:nvPr/>
        </p:nvPicPr>
        <p:blipFill>
          <a:blip r:embed="rId3"/>
          <a:stretch>
            <a:fillRect/>
          </a:stretch>
        </p:blipFill>
        <p:spPr>
          <a:xfrm>
            <a:off x="640080" y="3447288"/>
            <a:ext cx="201168" cy="201168"/>
          </a:xfrm>
          <a:prstGeom prst="rect">
            <a:avLst/>
          </a:prstGeom>
        </p:spPr>
      </p:pic>
      <p:sp>
        <p:nvSpPr>
          <p:cNvPr id="14" name="Text 9"/>
          <p:cNvSpPr/>
          <p:nvPr/>
        </p:nvSpPr>
        <p:spPr>
          <a:xfrm>
            <a:off x="914400" y="342900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Enrichir les articles Wikipédia avec des sources vérifiées</a:t>
            </a:r>
            <a:endParaRPr lang="en-US" sz="1000" dirty="0"/>
          </a:p>
        </p:txBody>
      </p:sp>
      <p:pic>
        <p:nvPicPr>
          <p:cNvPr id="15" name="Image 3" descr="preencoded.png">    </p:cNvPr>
          <p:cNvPicPr>
            <a:picLocks noChangeAspect="1"/>
          </p:cNvPicPr>
          <p:nvPr/>
        </p:nvPicPr>
        <p:blipFill>
          <a:blip r:embed="rId4"/>
          <a:stretch>
            <a:fillRect/>
          </a:stretch>
        </p:blipFill>
        <p:spPr>
          <a:xfrm>
            <a:off x="640080" y="3995928"/>
            <a:ext cx="201168" cy="201168"/>
          </a:xfrm>
          <a:prstGeom prst="rect">
            <a:avLst/>
          </a:prstGeom>
        </p:spPr>
      </p:pic>
      <p:sp>
        <p:nvSpPr>
          <p:cNvPr id="16" name="Text 10"/>
          <p:cNvSpPr/>
          <p:nvPr/>
        </p:nvSpPr>
        <p:spPr>
          <a:xfrm>
            <a:off x="914400" y="397764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Organiser un premier colloque académique</a:t>
            </a:r>
            <a:endParaRPr lang="en-US" sz="1000" dirty="0"/>
          </a:p>
        </p:txBody>
      </p:sp>
      <p:sp>
        <p:nvSpPr>
          <p:cNvPr id="17" name="Shape 11"/>
          <p:cNvSpPr/>
          <p:nvPr/>
        </p:nvSpPr>
        <p:spPr>
          <a:xfrm>
            <a:off x="3337560" y="1508760"/>
            <a:ext cx="265176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2"/>
          <p:cNvSpPr/>
          <p:nvPr/>
        </p:nvSpPr>
        <p:spPr>
          <a:xfrm>
            <a:off x="3337560" y="1508760"/>
            <a:ext cx="2651760" cy="640080"/>
          </a:xfrm>
          <a:prstGeom prst="rect">
            <a:avLst/>
          </a:prstGeom>
          <a:solidFill>
            <a:srgbClr val="C17B3A"/>
          </a:solidFill>
          <a:ln/>
        </p:spPr>
      </p:sp>
      <p:sp>
        <p:nvSpPr>
          <p:cNvPr id="19" name="Text 13"/>
          <p:cNvSpPr/>
          <p:nvPr/>
        </p:nvSpPr>
        <p:spPr>
          <a:xfrm>
            <a:off x="3474720" y="1536192"/>
            <a:ext cx="2377440" cy="32004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MOYEN TERME</a:t>
            </a:r>
            <a:endParaRPr lang="en-US" sz="1200" dirty="0"/>
          </a:p>
        </p:txBody>
      </p:sp>
      <p:sp>
        <p:nvSpPr>
          <p:cNvPr id="20" name="Text 14"/>
          <p:cNvSpPr/>
          <p:nvPr/>
        </p:nvSpPr>
        <p:spPr>
          <a:xfrm>
            <a:off x="3474720" y="1828800"/>
            <a:ext cx="237744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1 – 3 ans</a:t>
            </a:r>
            <a:endParaRPr lang="en-US" sz="1100" dirty="0"/>
          </a:p>
        </p:txBody>
      </p:sp>
      <p:pic>
        <p:nvPicPr>
          <p:cNvPr id="21" name="Image 4" descr="preencoded.png">    </p:cNvPr>
          <p:cNvPicPr>
            <a:picLocks noChangeAspect="1"/>
          </p:cNvPicPr>
          <p:nvPr/>
        </p:nvPicPr>
        <p:blipFill>
          <a:blip r:embed="rId5"/>
          <a:stretch>
            <a:fillRect/>
          </a:stretch>
        </p:blipFill>
        <p:spPr>
          <a:xfrm>
            <a:off x="3520440" y="2350008"/>
            <a:ext cx="201168" cy="201168"/>
          </a:xfrm>
          <a:prstGeom prst="rect">
            <a:avLst/>
          </a:prstGeom>
        </p:spPr>
      </p:pic>
      <p:sp>
        <p:nvSpPr>
          <p:cNvPr id="22" name="Text 15"/>
          <p:cNvSpPr/>
          <p:nvPr/>
        </p:nvSpPr>
        <p:spPr>
          <a:xfrm>
            <a:off x="3794760" y="233172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Publier dictionnaires et manuels scolaires en chaoui</a:t>
            </a:r>
            <a:endParaRPr lang="en-US" sz="1000" dirty="0"/>
          </a:p>
        </p:txBody>
      </p:sp>
      <p:pic>
        <p:nvPicPr>
          <p:cNvPr id="23" name="Image 5" descr="preencoded.png">    </p:cNvPr>
          <p:cNvPicPr>
            <a:picLocks noChangeAspect="1"/>
          </p:cNvPicPr>
          <p:nvPr/>
        </p:nvPicPr>
        <p:blipFill>
          <a:blip r:embed="rId6"/>
          <a:stretch>
            <a:fillRect/>
          </a:stretch>
        </p:blipFill>
        <p:spPr>
          <a:xfrm>
            <a:off x="3520440" y="2898648"/>
            <a:ext cx="201168" cy="201168"/>
          </a:xfrm>
          <a:prstGeom prst="rect">
            <a:avLst/>
          </a:prstGeom>
        </p:spPr>
      </p:pic>
      <p:sp>
        <p:nvSpPr>
          <p:cNvPr id="24" name="Text 16"/>
          <p:cNvSpPr/>
          <p:nvPr/>
        </p:nvSpPr>
        <p:spPr>
          <a:xfrm>
            <a:off x="3794760" y="288036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Créer la bibliothèque numérique institutionnelle</a:t>
            </a:r>
            <a:endParaRPr lang="en-US" sz="1000" dirty="0"/>
          </a:p>
        </p:txBody>
      </p:sp>
      <p:pic>
        <p:nvPicPr>
          <p:cNvPr id="25" name="Image 6" descr="preencoded.png">    </p:cNvPr>
          <p:cNvPicPr>
            <a:picLocks noChangeAspect="1"/>
          </p:cNvPicPr>
          <p:nvPr/>
        </p:nvPicPr>
        <p:blipFill>
          <a:blip r:embed="rId7"/>
          <a:stretch>
            <a:fillRect/>
          </a:stretch>
        </p:blipFill>
        <p:spPr>
          <a:xfrm>
            <a:off x="3520440" y="3447288"/>
            <a:ext cx="201168" cy="201168"/>
          </a:xfrm>
          <a:prstGeom prst="rect">
            <a:avLst/>
          </a:prstGeom>
        </p:spPr>
      </p:pic>
      <p:sp>
        <p:nvSpPr>
          <p:cNvPr id="26" name="Text 17"/>
          <p:cNvSpPr/>
          <p:nvPr/>
        </p:nvSpPr>
        <p:spPr>
          <a:xfrm>
            <a:off x="3794760" y="342900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Déposer des dossiers UNESCO (patrimoine immatériel)</a:t>
            </a:r>
            <a:endParaRPr lang="en-US" sz="1000" dirty="0"/>
          </a:p>
        </p:txBody>
      </p:sp>
      <p:pic>
        <p:nvPicPr>
          <p:cNvPr id="27" name="Image 7" descr="preencoded.png">    </p:cNvPr>
          <p:cNvPicPr>
            <a:picLocks noChangeAspect="1"/>
          </p:cNvPicPr>
          <p:nvPr/>
        </p:nvPicPr>
        <p:blipFill>
          <a:blip r:embed="rId8"/>
          <a:stretch>
            <a:fillRect/>
          </a:stretch>
        </p:blipFill>
        <p:spPr>
          <a:xfrm>
            <a:off x="3520440" y="3995928"/>
            <a:ext cx="201168" cy="201168"/>
          </a:xfrm>
          <a:prstGeom prst="rect">
            <a:avLst/>
          </a:prstGeom>
        </p:spPr>
      </p:pic>
      <p:sp>
        <p:nvSpPr>
          <p:cNvPr id="28" name="Text 18"/>
          <p:cNvSpPr/>
          <p:nvPr/>
        </p:nvSpPr>
        <p:spPr>
          <a:xfrm>
            <a:off x="3794760" y="397764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Former des chercheurs et enseignants spécialisés</a:t>
            </a:r>
            <a:endParaRPr lang="en-US" sz="1000" dirty="0"/>
          </a:p>
        </p:txBody>
      </p:sp>
      <p:sp>
        <p:nvSpPr>
          <p:cNvPr id="29" name="Shape 19"/>
          <p:cNvSpPr/>
          <p:nvPr/>
        </p:nvSpPr>
        <p:spPr>
          <a:xfrm>
            <a:off x="6217920" y="1508760"/>
            <a:ext cx="265176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0" name="Shape 20"/>
          <p:cNvSpPr/>
          <p:nvPr/>
        </p:nvSpPr>
        <p:spPr>
          <a:xfrm>
            <a:off x="6217920" y="1508760"/>
            <a:ext cx="2651760" cy="640080"/>
          </a:xfrm>
          <a:prstGeom prst="rect">
            <a:avLst/>
          </a:prstGeom>
          <a:solidFill>
            <a:srgbClr val="B85042"/>
          </a:solidFill>
          <a:ln/>
        </p:spPr>
      </p:sp>
      <p:sp>
        <p:nvSpPr>
          <p:cNvPr id="31" name="Text 21"/>
          <p:cNvSpPr/>
          <p:nvPr/>
        </p:nvSpPr>
        <p:spPr>
          <a:xfrm>
            <a:off x="6355080" y="1536192"/>
            <a:ext cx="2377440" cy="32004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LONG TERME</a:t>
            </a:r>
            <a:endParaRPr lang="en-US" sz="1200" dirty="0"/>
          </a:p>
        </p:txBody>
      </p:sp>
      <p:sp>
        <p:nvSpPr>
          <p:cNvPr id="32" name="Text 22"/>
          <p:cNvSpPr/>
          <p:nvPr/>
        </p:nvSpPr>
        <p:spPr>
          <a:xfrm>
            <a:off x="6355080" y="1828800"/>
            <a:ext cx="237744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3 – 10 ans</a:t>
            </a:r>
            <a:endParaRPr lang="en-US" sz="1100" dirty="0"/>
          </a:p>
        </p:txBody>
      </p:sp>
      <p:pic>
        <p:nvPicPr>
          <p:cNvPr id="33" name="Image 8" descr="preencoded.png">    </p:cNvPr>
          <p:cNvPicPr>
            <a:picLocks noChangeAspect="1"/>
          </p:cNvPicPr>
          <p:nvPr/>
        </p:nvPicPr>
        <p:blipFill>
          <a:blip r:embed="rId9"/>
          <a:stretch>
            <a:fillRect/>
          </a:stretch>
        </p:blipFill>
        <p:spPr>
          <a:xfrm>
            <a:off x="6400800" y="2350008"/>
            <a:ext cx="201168" cy="201168"/>
          </a:xfrm>
          <a:prstGeom prst="rect">
            <a:avLst/>
          </a:prstGeom>
        </p:spPr>
      </p:pic>
      <p:sp>
        <p:nvSpPr>
          <p:cNvPr id="34" name="Text 23"/>
          <p:cNvSpPr/>
          <p:nvPr/>
        </p:nvSpPr>
        <p:spPr>
          <a:xfrm>
            <a:off x="6675120" y="233172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Intégrer le chaoui dans le système éducatif officiel</a:t>
            </a:r>
            <a:endParaRPr lang="en-US" sz="1000" dirty="0"/>
          </a:p>
        </p:txBody>
      </p:sp>
      <p:pic>
        <p:nvPicPr>
          <p:cNvPr id="35" name="Image 9" descr="preencoded.png">    </p:cNvPr>
          <p:cNvPicPr>
            <a:picLocks noChangeAspect="1"/>
          </p:cNvPicPr>
          <p:nvPr/>
        </p:nvPicPr>
        <p:blipFill>
          <a:blip r:embed="rId10"/>
          <a:stretch>
            <a:fillRect/>
          </a:stretch>
        </p:blipFill>
        <p:spPr>
          <a:xfrm>
            <a:off x="6400800" y="2898648"/>
            <a:ext cx="201168" cy="201168"/>
          </a:xfrm>
          <a:prstGeom prst="rect">
            <a:avLst/>
          </a:prstGeom>
        </p:spPr>
      </p:pic>
      <p:sp>
        <p:nvSpPr>
          <p:cNvPr id="36" name="Text 24"/>
          <p:cNvSpPr/>
          <p:nvPr/>
        </p:nvSpPr>
        <p:spPr>
          <a:xfrm>
            <a:off x="6675120" y="288036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Ouvrir un musée de la culture chaoui dans l'Aurès</a:t>
            </a:r>
            <a:endParaRPr lang="en-US" sz="1000" dirty="0"/>
          </a:p>
        </p:txBody>
      </p:sp>
      <p:pic>
        <p:nvPicPr>
          <p:cNvPr id="37" name="Image 10" descr="preencoded.png">    </p:cNvPr>
          <p:cNvPicPr>
            <a:picLocks noChangeAspect="1"/>
          </p:cNvPicPr>
          <p:nvPr/>
        </p:nvPicPr>
        <p:blipFill>
          <a:blip r:embed="rId11"/>
          <a:stretch>
            <a:fillRect/>
          </a:stretch>
        </p:blipFill>
        <p:spPr>
          <a:xfrm>
            <a:off x="6400800" y="3447288"/>
            <a:ext cx="201168" cy="201168"/>
          </a:xfrm>
          <a:prstGeom prst="rect">
            <a:avLst/>
          </a:prstGeom>
        </p:spPr>
      </p:pic>
      <p:sp>
        <p:nvSpPr>
          <p:cNvPr id="38" name="Text 25"/>
          <p:cNvSpPr/>
          <p:nvPr/>
        </p:nvSpPr>
        <p:spPr>
          <a:xfrm>
            <a:off x="6675120" y="342900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Atteindre 200+ publications indexées</a:t>
            </a:r>
            <a:endParaRPr lang="en-US" sz="1000" dirty="0"/>
          </a:p>
        </p:txBody>
      </p:sp>
      <p:pic>
        <p:nvPicPr>
          <p:cNvPr id="39" name="Image 11" descr="preencoded.png">    </p:cNvPr>
          <p:cNvPicPr>
            <a:picLocks noChangeAspect="1"/>
          </p:cNvPicPr>
          <p:nvPr/>
        </p:nvPicPr>
        <p:blipFill>
          <a:blip r:embed="rId12"/>
          <a:stretch>
            <a:fillRect/>
          </a:stretch>
        </p:blipFill>
        <p:spPr>
          <a:xfrm>
            <a:off x="6400800" y="3995928"/>
            <a:ext cx="201168" cy="201168"/>
          </a:xfrm>
          <a:prstGeom prst="rect">
            <a:avLst/>
          </a:prstGeom>
        </p:spPr>
      </p:pic>
      <p:sp>
        <p:nvSpPr>
          <p:cNvPr id="40" name="Text 26"/>
          <p:cNvSpPr/>
          <p:nvPr/>
        </p:nvSpPr>
        <p:spPr>
          <a:xfrm>
            <a:off x="6675120" y="3977640"/>
            <a:ext cx="2011680" cy="502920"/>
          </a:xfrm>
          <a:prstGeom prst="rect">
            <a:avLst/>
          </a:prstGeom>
          <a:noFill/>
          <a:ln/>
        </p:spPr>
        <p:txBody>
          <a:bodyPr wrap="square" lIns="0" tIns="0" rIns="0" bIns="0" rtlCol="0" anchor="ctr"/>
          <a:lstStyle/>
          <a:p>
            <a:pPr indent="0" marL="0">
              <a:lnSpc>
                <a:spcPct val="130000"/>
              </a:lnSpc>
              <a:buNone/>
            </a:pPr>
            <a:r>
              <a:rPr lang="en-US" sz="1000" dirty="0">
                <a:solidFill>
                  <a:srgbClr val="7A6558"/>
                </a:solidFill>
                <a:latin typeface="Calibri" pitchFamily="34" charset="0"/>
                <a:ea typeface="Calibri" pitchFamily="34" charset="-122"/>
                <a:cs typeface="Calibri" pitchFamily="34" charset="-120"/>
              </a:rPr>
              <a:t>Reconnaissance internationale du patrimoine chaoui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D18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17B3A"/>
          </a:solidFill>
          <a:ln/>
        </p:spPr>
      </p:sp>
      <p:sp>
        <p:nvSpPr>
          <p:cNvPr id="3" name="Shape 1"/>
          <p:cNvSpPr/>
          <p:nvPr/>
        </p:nvSpPr>
        <p:spPr>
          <a:xfrm>
            <a:off x="6858000" y="457200"/>
            <a:ext cx="2011680" cy="2011680"/>
          </a:xfrm>
          <a:prstGeom prst="rect">
            <a:avLst/>
          </a:prstGeom>
          <a:solidFill>
            <a:srgbClr val="B85042">
              <a:alpha val="65000"/>
            </a:srgbClr>
          </a:solidFill>
          <a:ln/>
        </p:spPr>
      </p:sp>
      <p:sp>
        <p:nvSpPr>
          <p:cNvPr id="4" name="Shape 2"/>
          <p:cNvSpPr/>
          <p:nvPr/>
        </p:nvSpPr>
        <p:spPr>
          <a:xfrm>
            <a:off x="7315200" y="1097280"/>
            <a:ext cx="1645920" cy="1645920"/>
          </a:xfrm>
          <a:prstGeom prst="rect">
            <a:avLst/>
          </a:prstGeom>
          <a:solidFill>
            <a:srgbClr val="C17B3A">
              <a:alpha val="55000"/>
            </a:srgbClr>
          </a:solidFill>
          <a:ln/>
        </p:spPr>
      </p:sp>
      <p:pic>
        <p:nvPicPr>
          <p:cNvPr id="5" name="Image 0" descr="preencoded.png">    </p:cNvPr>
          <p:cNvPicPr>
            <a:picLocks noChangeAspect="1"/>
          </p:cNvPicPr>
          <p:nvPr/>
        </p:nvPicPr>
        <p:blipFill>
          <a:blip r:embed="rId1"/>
          <a:stretch>
            <a:fillRect/>
          </a:stretch>
        </p:blipFill>
        <p:spPr>
          <a:xfrm>
            <a:off x="548640" y="640080"/>
            <a:ext cx="548640" cy="548640"/>
          </a:xfrm>
          <a:prstGeom prst="rect">
            <a:avLst/>
          </a:prstGeom>
        </p:spPr>
      </p:pic>
      <p:sp>
        <p:nvSpPr>
          <p:cNvPr id="6" name="Text 3"/>
          <p:cNvSpPr/>
          <p:nvPr/>
        </p:nvSpPr>
        <p:spPr>
          <a:xfrm>
            <a:off x="548640" y="1280160"/>
            <a:ext cx="6400800" cy="146304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Georgia" pitchFamily="34" charset="0"/>
                <a:ea typeface="Georgia" pitchFamily="34" charset="-122"/>
                <a:cs typeface="Georgia" pitchFamily="34" charset="-120"/>
              </a:rPr>
              <a:t>La culture chaoui</a:t>
            </a:r>
            <a:endParaRPr lang="en-US" sz="3200" dirty="0"/>
          </a:p>
          <a:p>
            <a:pPr indent="0" marL="0">
              <a:lnSpc>
                <a:spcPct val="115000"/>
              </a:lnSpc>
              <a:buNone/>
            </a:pPr>
            <a:r>
              <a:rPr lang="en-US" sz="3200" b="1" dirty="0">
                <a:solidFill>
                  <a:srgbClr val="FFFFFF"/>
                </a:solidFill>
                <a:latin typeface="Georgia" pitchFamily="34" charset="0"/>
                <a:ea typeface="Georgia" pitchFamily="34" charset="-122"/>
                <a:cs typeface="Georgia" pitchFamily="34" charset="-120"/>
              </a:rPr>
              <a:t>mérite des références,</a:t>
            </a:r>
            <a:endParaRPr lang="en-US" sz="3200" dirty="0"/>
          </a:p>
          <a:p>
            <a:pPr indent="0" marL="0">
              <a:lnSpc>
                <a:spcPct val="115000"/>
              </a:lnSpc>
              <a:buNone/>
            </a:pPr>
            <a:r>
              <a:rPr lang="en-US" sz="3200" b="1" dirty="0">
                <a:solidFill>
                  <a:srgbClr val="FFFFFF"/>
                </a:solidFill>
                <a:latin typeface="Georgia" pitchFamily="34" charset="0"/>
                <a:ea typeface="Georgia" pitchFamily="34" charset="-122"/>
                <a:cs typeface="Georgia" pitchFamily="34" charset="-120"/>
              </a:rPr>
              <a:t>pas des likes.</a:t>
            </a:r>
            <a:endParaRPr lang="en-US" sz="3200" dirty="0"/>
          </a:p>
        </p:txBody>
      </p:sp>
      <p:sp>
        <p:nvSpPr>
          <p:cNvPr id="7" name="Text 4"/>
          <p:cNvSpPr/>
          <p:nvPr/>
        </p:nvSpPr>
        <p:spPr>
          <a:xfrm>
            <a:off x="548640" y="2880360"/>
            <a:ext cx="5943600" cy="914400"/>
          </a:xfrm>
          <a:prstGeom prst="rect">
            <a:avLst/>
          </a:prstGeom>
          <a:noFill/>
          <a:ln/>
        </p:spPr>
        <p:txBody>
          <a:bodyPr wrap="square" lIns="0" tIns="0" rIns="0" bIns="0" rtlCol="0" anchor="ctr"/>
          <a:lstStyle/>
          <a:p>
            <a:pPr indent="0" marL="0">
              <a:lnSpc>
                <a:spcPct val="150000"/>
              </a:lnSpc>
              <a:buNone/>
            </a:pPr>
            <a:r>
              <a:rPr lang="en-US" sz="1300" dirty="0">
                <a:solidFill>
                  <a:srgbClr val="E7E0D1"/>
                </a:solidFill>
                <a:latin typeface="Calibri" pitchFamily="34" charset="0"/>
                <a:ea typeface="Calibri" pitchFamily="34" charset="-122"/>
                <a:cs typeface="Calibri" pitchFamily="34" charset="-120"/>
              </a:rPr>
              <a:t>Les réseaux sociaux donnent de la visibilité, mais seules les institutions, les publications scientifiques, les archives et les musées garantissent que ce patrimoine existera encore dans 100 ans.</a:t>
            </a:r>
            <a:endParaRPr lang="en-US" sz="1300" dirty="0"/>
          </a:p>
        </p:txBody>
      </p:sp>
      <p:sp>
        <p:nvSpPr>
          <p:cNvPr id="8" name="Text 5"/>
          <p:cNvSpPr/>
          <p:nvPr/>
        </p:nvSpPr>
        <p:spPr>
          <a:xfrm>
            <a:off x="548640" y="3794760"/>
            <a:ext cx="5943600" cy="365760"/>
          </a:xfrm>
          <a:prstGeom prst="rect">
            <a:avLst/>
          </a:prstGeom>
          <a:noFill/>
          <a:ln/>
        </p:spPr>
        <p:txBody>
          <a:bodyPr wrap="square" lIns="0" tIns="0" rIns="0" bIns="0" rtlCol="0" anchor="ctr"/>
          <a:lstStyle/>
          <a:p>
            <a:pPr indent="0" marL="0">
              <a:buNone/>
            </a:pPr>
            <a:r>
              <a:rPr lang="en-US" sz="1400" b="1" i="1" dirty="0">
                <a:solidFill>
                  <a:srgbClr val="C17B3A"/>
                </a:solidFill>
                <a:latin typeface="Georgia" pitchFamily="34" charset="0"/>
                <a:ea typeface="Georgia" pitchFamily="34" charset="-122"/>
                <a:cs typeface="Georgia" pitchFamily="34" charset="-120"/>
              </a:rPr>
              <a:t>Passons de l'illusion numérique à l'action institutionnelle.</a:t>
            </a:r>
            <a:endParaRPr lang="en-US" sz="1400" dirty="0"/>
          </a:p>
        </p:txBody>
      </p:sp>
      <p:sp>
        <p:nvSpPr>
          <p:cNvPr id="9" name="Shape 6"/>
          <p:cNvSpPr/>
          <p:nvPr/>
        </p:nvSpPr>
        <p:spPr>
          <a:xfrm>
            <a:off x="0" y="4480560"/>
            <a:ext cx="9144000" cy="658368"/>
          </a:xfrm>
          <a:prstGeom prst="rect">
            <a:avLst/>
          </a:prstGeom>
          <a:solidFill>
            <a:srgbClr val="B85042"/>
          </a:solidFill>
          <a:ln/>
        </p:spPr>
      </p:sp>
      <p:sp>
        <p:nvSpPr>
          <p:cNvPr id="10" name="Text 7"/>
          <p:cNvSpPr/>
          <p:nvPr/>
        </p:nvSpPr>
        <p:spPr>
          <a:xfrm>
            <a:off x="457200" y="4526280"/>
            <a:ext cx="8229600" cy="548640"/>
          </a:xfrm>
          <a:prstGeom prst="rect">
            <a:avLst/>
          </a:prstGeom>
          <a:noFill/>
          <a:ln/>
        </p:spPr>
        <p:txBody>
          <a:bodyPr wrap="square" rtlCol="0" anchor="ctr"/>
          <a:lstStyle/>
          <a:p>
            <a:pPr algn="ctr" indent="0" marL="0">
              <a:buNone/>
            </a:pPr>
            <a:r>
              <a:rPr lang="en-US" sz="1300" spc="300" kern="0" dirty="0">
                <a:solidFill>
                  <a:srgbClr val="FFFFFF"/>
                </a:solidFill>
                <a:latin typeface="Calibri" pitchFamily="34" charset="0"/>
                <a:ea typeface="Calibri" pitchFamily="34" charset="-122"/>
                <a:cs typeface="Calibri" pitchFamily="34" charset="-120"/>
              </a:rPr>
              <a:t>ⵜⴰⵛⴰⵡⵉⵜ  —  TACHAWIT  —  CULTURE CHAOUI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pour rendre la Culture Chaoui référencée et accessible</dc:title>
  <dc:subject>PptxGenJS Presentation</dc:subject>
  <dc:creator>Claude</dc:creator>
  <cp:lastModifiedBy>Claude</cp:lastModifiedBy>
  <cp:revision>1</cp:revision>
  <dcterms:created xsi:type="dcterms:W3CDTF">2026-03-02T20:59:42Z</dcterms:created>
  <dcterms:modified xsi:type="dcterms:W3CDTF">2026-03-02T20:59:42Z</dcterms:modified>
</cp:coreProperties>
</file>